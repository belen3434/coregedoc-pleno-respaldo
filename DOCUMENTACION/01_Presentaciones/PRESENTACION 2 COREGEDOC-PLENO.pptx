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embeddedFontLst>
    <p:embeddedFont>
      <p:font typeface="Play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iL9ZKay/tH8+ijcK9kyImpENkx8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3F9EC2F-0BC0-42C8-9F5B-97D014769288}">
  <a:tblStyle styleId="{D3F9EC2F-0BC0-42C8-9F5B-97D014769288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fill>
          <a:solidFill>
            <a:schemeClr val="accent3">
              <a:alpha val="20000"/>
            </a:schemeClr>
          </a:solidFill>
        </a:fill>
      </a:tcStyle>
    </a:band1H>
    <a:band2H>
      <a:tcTxStyle/>
    </a:band2H>
    <a:band1V>
      <a:tcTxStyle/>
      <a:tcStyle>
        <a:fill>
          <a:solidFill>
            <a:schemeClr val="accent3">
              <a:alpha val="20000"/>
            </a:schemeClr>
          </a:solidFill>
        </a:fill>
      </a:tcStyle>
    </a:band1V>
    <a:band2V>
      <a:tcTxStyle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</a:seCell>
    <a:swCell>
      <a:tcTxStyle/>
    </a:swCell>
    <a:firstRow>
      <a:tcTxStyle b="on" i="off"/>
      <a:tcStyle>
        <a:tcBdr>
          <a:bottom>
            <a:ln cap="flat" cmpd="sng" w="254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-regular.fntdata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font" Target="fonts/Play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7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11.png"/><Relationship Id="rId7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7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7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2.png"/><Relationship Id="rId7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7.png"/><Relationship Id="rId10" Type="http://schemas.openxmlformats.org/officeDocument/2006/relationships/image" Target="../media/image29.png"/><Relationship Id="rId13" Type="http://schemas.openxmlformats.org/officeDocument/2006/relationships/image" Target="../media/image14.png"/><Relationship Id="rId1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png"/><Relationship Id="rId4" Type="http://schemas.openxmlformats.org/officeDocument/2006/relationships/image" Target="../media/image1.png"/><Relationship Id="rId9" Type="http://schemas.openxmlformats.org/officeDocument/2006/relationships/image" Target="../media/image16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15.png"/><Relationship Id="rId8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54.png"/><Relationship Id="rId10" Type="http://schemas.openxmlformats.org/officeDocument/2006/relationships/image" Target="../media/image21.png"/><Relationship Id="rId13" Type="http://schemas.openxmlformats.org/officeDocument/2006/relationships/image" Target="../media/image13.png"/><Relationship Id="rId1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7.png"/><Relationship Id="rId4" Type="http://schemas.openxmlformats.org/officeDocument/2006/relationships/image" Target="../media/image1.png"/><Relationship Id="rId9" Type="http://schemas.openxmlformats.org/officeDocument/2006/relationships/image" Target="../media/image10.png"/><Relationship Id="rId14" Type="http://schemas.openxmlformats.org/officeDocument/2006/relationships/image" Target="../media/image18.png"/><Relationship Id="rId5" Type="http://schemas.openxmlformats.org/officeDocument/2006/relationships/image" Target="../media/image4.png"/><Relationship Id="rId6" Type="http://schemas.openxmlformats.org/officeDocument/2006/relationships/image" Target="../media/image2.png"/><Relationship Id="rId7" Type="http://schemas.openxmlformats.org/officeDocument/2006/relationships/image" Target="../media/image8.png"/><Relationship Id="rId8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24.png"/><Relationship Id="rId10" Type="http://schemas.openxmlformats.org/officeDocument/2006/relationships/image" Target="../media/image19.png"/><Relationship Id="rId13" Type="http://schemas.openxmlformats.org/officeDocument/2006/relationships/image" Target="../media/image38.png"/><Relationship Id="rId1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7.png"/><Relationship Id="rId4" Type="http://schemas.openxmlformats.org/officeDocument/2006/relationships/image" Target="../media/image1.png"/><Relationship Id="rId9" Type="http://schemas.openxmlformats.org/officeDocument/2006/relationships/image" Target="../media/image42.png"/><Relationship Id="rId15" Type="http://schemas.openxmlformats.org/officeDocument/2006/relationships/image" Target="../media/image26.png"/><Relationship Id="rId14" Type="http://schemas.openxmlformats.org/officeDocument/2006/relationships/image" Target="../media/image25.png"/><Relationship Id="rId5" Type="http://schemas.openxmlformats.org/officeDocument/2006/relationships/image" Target="../media/image4.png"/><Relationship Id="rId6" Type="http://schemas.openxmlformats.org/officeDocument/2006/relationships/image" Target="../media/image2.png"/><Relationship Id="rId7" Type="http://schemas.openxmlformats.org/officeDocument/2006/relationships/image" Target="../media/image20.png"/><Relationship Id="rId8" Type="http://schemas.openxmlformats.org/officeDocument/2006/relationships/image" Target="../media/image23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30.png"/><Relationship Id="rId10" Type="http://schemas.openxmlformats.org/officeDocument/2006/relationships/image" Target="../media/image35.png"/><Relationship Id="rId1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0.png"/><Relationship Id="rId4" Type="http://schemas.openxmlformats.org/officeDocument/2006/relationships/image" Target="../media/image1.png"/><Relationship Id="rId9" Type="http://schemas.openxmlformats.org/officeDocument/2006/relationships/image" Target="../media/image31.png"/><Relationship Id="rId5" Type="http://schemas.openxmlformats.org/officeDocument/2006/relationships/image" Target="../media/image4.png"/><Relationship Id="rId6" Type="http://schemas.openxmlformats.org/officeDocument/2006/relationships/image" Target="../media/image2.png"/><Relationship Id="rId7" Type="http://schemas.openxmlformats.org/officeDocument/2006/relationships/image" Target="../media/image51.png"/><Relationship Id="rId8" Type="http://schemas.openxmlformats.org/officeDocument/2006/relationships/image" Target="../media/image28.png"/></Relationships>
</file>

<file path=ppt/slides/_rels/slide9.xml.rels><?xml version="1.0" encoding="UTF-8" standalone="yes"?><Relationships xmlns="http://schemas.openxmlformats.org/package/2006/relationships"><Relationship Id="rId10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0.png"/><Relationship Id="rId4" Type="http://schemas.openxmlformats.org/officeDocument/2006/relationships/image" Target="../media/image1.png"/><Relationship Id="rId9" Type="http://schemas.openxmlformats.org/officeDocument/2006/relationships/image" Target="../media/image39.png"/><Relationship Id="rId5" Type="http://schemas.openxmlformats.org/officeDocument/2006/relationships/image" Target="../media/image4.png"/><Relationship Id="rId6" Type="http://schemas.openxmlformats.org/officeDocument/2006/relationships/image" Target="../media/image2.png"/><Relationship Id="rId7" Type="http://schemas.openxmlformats.org/officeDocument/2006/relationships/image" Target="../media/image47.png"/><Relationship Id="rId8" Type="http://schemas.openxmlformats.org/officeDocument/2006/relationships/image" Target="../media/image4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0.png"/><Relationship Id="rId4" Type="http://schemas.openxmlformats.org/officeDocument/2006/relationships/image" Target="../media/image1.png"/><Relationship Id="rId9" Type="http://schemas.openxmlformats.org/officeDocument/2006/relationships/image" Target="../media/image52.png"/><Relationship Id="rId5" Type="http://schemas.openxmlformats.org/officeDocument/2006/relationships/image" Target="../media/image4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4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0.png"/><Relationship Id="rId4" Type="http://schemas.openxmlformats.org/officeDocument/2006/relationships/image" Target="../media/image1.png"/><Relationship Id="rId9" Type="http://schemas.openxmlformats.org/officeDocument/2006/relationships/image" Target="../media/image43.png"/><Relationship Id="rId5" Type="http://schemas.openxmlformats.org/officeDocument/2006/relationships/image" Target="../media/image4.png"/><Relationship Id="rId6" Type="http://schemas.openxmlformats.org/officeDocument/2006/relationships/image" Target="../media/image50.png"/><Relationship Id="rId7" Type="http://schemas.openxmlformats.org/officeDocument/2006/relationships/image" Target="../media/image44.png"/><Relationship Id="rId8" Type="http://schemas.openxmlformats.org/officeDocument/2006/relationships/image" Target="../media/image4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7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4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7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5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0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5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250"/>
            <a:ext cx="12192001" cy="69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78" y="0"/>
            <a:ext cx="12185522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1882" y="503453"/>
            <a:ext cx="2814452" cy="1684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2"/>
          <p:cNvPicPr preferRelativeResize="0"/>
          <p:nvPr/>
        </p:nvPicPr>
        <p:blipFill rotWithShape="1">
          <a:blip r:embed="rId5">
            <a:alphaModFix/>
          </a:blip>
          <a:srcRect b="20747" l="0" r="30513" t="23691"/>
          <a:stretch/>
        </p:blipFill>
        <p:spPr>
          <a:xfrm>
            <a:off x="8271933" y="718846"/>
            <a:ext cx="3987349" cy="102573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"/>
          <p:cNvSpPr txBox="1"/>
          <p:nvPr/>
        </p:nvSpPr>
        <p:spPr>
          <a:xfrm>
            <a:off x="4137000" y="956150"/>
            <a:ext cx="42198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700">
                <a:solidFill>
                  <a:srgbClr val="0F4861"/>
                </a:solidFill>
                <a:latin typeface="Arial"/>
                <a:ea typeface="Arial"/>
                <a:cs typeface="Arial"/>
                <a:sym typeface="Arial"/>
              </a:rPr>
              <a:t>Que es el CORE y cual es la </a:t>
            </a:r>
            <a:r>
              <a:rPr b="1" lang="es-CL" sz="2700">
                <a:solidFill>
                  <a:srgbClr val="0F4861"/>
                </a:solidFill>
              </a:rPr>
              <a:t>problemática?</a:t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F486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"/>
          <p:cNvSpPr txBox="1"/>
          <p:nvPr/>
        </p:nvSpPr>
        <p:spPr>
          <a:xfrm>
            <a:off x="1086869" y="2474690"/>
            <a:ext cx="4627800" cy="15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-CL" sz="1700">
                <a:solidFill>
                  <a:srgbClr val="666666"/>
                </a:solidFill>
              </a:rPr>
              <a:t>El Consejo Regional de Valparaíso (CORE) es el organismo encargado de analizar y tomar decisiones sobre temas y proyectos que impactan a la región, mediante comisiones y sesiones plenarias.</a:t>
            </a:r>
            <a:endParaRPr b="1" sz="1700">
              <a:solidFill>
                <a:srgbClr val="666666"/>
              </a:solidFill>
            </a:endParaRPr>
          </a:p>
        </p:txBody>
      </p:sp>
      <p:sp>
        <p:nvSpPr>
          <p:cNvPr id="94" name="Google Shape;94;p2"/>
          <p:cNvSpPr txBox="1"/>
          <p:nvPr/>
        </p:nvSpPr>
        <p:spPr>
          <a:xfrm>
            <a:off x="1086869" y="4241621"/>
            <a:ext cx="4627800" cy="24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700">
                <a:solidFill>
                  <a:srgbClr val="757575"/>
                </a:solidFill>
              </a:rPr>
              <a:t>Actualmente, aunque parte del proceso es digital, aún existen tareas manuales y dependencias operativas que dificultan la organización, el seguimiento de la información y la gestión documental, generando demoras y menor eficiencia en el trabajo.</a:t>
            </a:r>
            <a:endParaRPr b="1" sz="1700">
              <a:solidFill>
                <a:srgbClr val="757575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95" name="Google Shape;95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87508" y="2154993"/>
            <a:ext cx="3129967" cy="2086644"/>
          </a:xfrm>
          <a:prstGeom prst="rect">
            <a:avLst/>
          </a:prstGeom>
          <a:noFill/>
          <a:ln cap="sq" cmpd="sng" w="190500">
            <a:solidFill>
              <a:srgbClr val="C8C6BD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254000" rotWithShape="0" algn="bl">
              <a:srgbClr val="000000">
                <a:alpha val="43137"/>
              </a:srgbClr>
            </a:outerShdw>
          </a:effectLst>
        </p:spPr>
      </p:pic>
      <p:pic>
        <p:nvPicPr>
          <p:cNvPr id="96" name="Google Shape;96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93896" y="3911149"/>
            <a:ext cx="3307228" cy="1861305"/>
          </a:xfrm>
          <a:prstGeom prst="rect">
            <a:avLst/>
          </a:prstGeom>
          <a:noFill/>
          <a:ln cap="sq" cmpd="sng" w="190500">
            <a:solidFill>
              <a:srgbClr val="C8C6BD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254000" rotWithShape="0" algn="bl">
              <a:srgbClr val="000000">
                <a:alpha val="43137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78" y="0"/>
            <a:ext cx="12185522" cy="6858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2" name="Google Shape;10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1882" y="503453"/>
            <a:ext cx="2814452" cy="1684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3"/>
          <p:cNvPicPr preferRelativeResize="0"/>
          <p:nvPr/>
        </p:nvPicPr>
        <p:blipFill rotWithShape="1">
          <a:blip r:embed="rId5">
            <a:alphaModFix/>
          </a:blip>
          <a:srcRect b="20747" l="0" r="30513" t="23691"/>
          <a:stretch/>
        </p:blipFill>
        <p:spPr>
          <a:xfrm>
            <a:off x="8271933" y="718846"/>
            <a:ext cx="3987349" cy="102573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3"/>
          <p:cNvSpPr txBox="1"/>
          <p:nvPr/>
        </p:nvSpPr>
        <p:spPr>
          <a:xfrm>
            <a:off x="1784350" y="2424949"/>
            <a:ext cx="4421717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4861"/>
              </a:buClr>
              <a:buSzPts val="2800"/>
              <a:buFont typeface="Arial"/>
              <a:buNone/>
            </a:pPr>
            <a:r>
              <a:rPr b="1" i="0" lang="es-CL" sz="2800" u="none" strike="noStrike">
                <a:solidFill>
                  <a:srgbClr val="0F4861"/>
                </a:solidFill>
                <a:latin typeface="Arial"/>
                <a:ea typeface="Arial"/>
                <a:cs typeface="Arial"/>
                <a:sym typeface="Arial"/>
              </a:rPr>
              <a:t>OBJETIVO GENERAL</a:t>
            </a:r>
            <a:endParaRPr b="0"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b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6361512" y="2424948"/>
            <a:ext cx="5381754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4861"/>
              </a:buClr>
              <a:buSzPts val="2800"/>
              <a:buFont typeface="Arial"/>
              <a:buNone/>
            </a:pPr>
            <a:r>
              <a:rPr b="1" i="0" lang="es-CL" sz="2800" u="none" strike="noStrike">
                <a:solidFill>
                  <a:srgbClr val="0F4861"/>
                </a:solidFill>
                <a:latin typeface="Arial"/>
                <a:ea typeface="Arial"/>
                <a:cs typeface="Arial"/>
                <a:sym typeface="Arial"/>
              </a:rPr>
              <a:t>OBJETIVOS ESPECÍFICOS</a:t>
            </a:r>
            <a:endParaRPr b="0"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b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" name="Google Shape;106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19817" y="2954337"/>
            <a:ext cx="3583517" cy="207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13382" y="2882257"/>
            <a:ext cx="4476351" cy="259453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3"/>
          <p:cNvSpPr/>
          <p:nvPr/>
        </p:nvSpPr>
        <p:spPr>
          <a:xfrm>
            <a:off x="1659466" y="3613666"/>
            <a:ext cx="4004733" cy="2109801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3"/>
          <p:cNvSpPr txBox="1"/>
          <p:nvPr/>
        </p:nvSpPr>
        <p:spPr>
          <a:xfrm>
            <a:off x="1988009" y="3760625"/>
            <a:ext cx="3523792" cy="181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6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Diseñar y desarrollar mejoras sobre la plataforma COREGEDOC, permitiendo optimizar la gestión del módulo Pleno, respetando la arquitectura existente y los requerimientos institucionales del CORE.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6513382" y="3613666"/>
            <a:ext cx="4106334" cy="408669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Gestionar sesiones plenarias</a:t>
            </a:r>
            <a:endParaRPr/>
          </a:p>
        </p:txBody>
      </p:sp>
      <p:sp>
        <p:nvSpPr>
          <p:cNvPr id="111" name="Google Shape;111;p3"/>
          <p:cNvSpPr/>
          <p:nvPr/>
        </p:nvSpPr>
        <p:spPr>
          <a:xfrm>
            <a:off x="6513382" y="4169524"/>
            <a:ext cx="4106334" cy="408669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Organizar tabla del pleno</a:t>
            </a:r>
            <a:endParaRPr/>
          </a:p>
        </p:txBody>
      </p:sp>
      <p:sp>
        <p:nvSpPr>
          <p:cNvPr id="112" name="Google Shape;112;p3"/>
          <p:cNvSpPr/>
          <p:nvPr/>
        </p:nvSpPr>
        <p:spPr>
          <a:xfrm>
            <a:off x="6513382" y="4742316"/>
            <a:ext cx="4106334" cy="408669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Controlar accesos</a:t>
            </a:r>
            <a:endParaRPr/>
          </a:p>
        </p:txBody>
      </p:sp>
      <p:sp>
        <p:nvSpPr>
          <p:cNvPr id="113" name="Google Shape;113;p3"/>
          <p:cNvSpPr/>
          <p:nvPr/>
        </p:nvSpPr>
        <p:spPr>
          <a:xfrm>
            <a:off x="6527803" y="5297348"/>
            <a:ext cx="4106334" cy="408669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Mantener persistencia y trazabilidad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78" y="0"/>
            <a:ext cx="12185522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1881" y="431798"/>
            <a:ext cx="1901410" cy="11379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4"/>
          <p:cNvPicPr preferRelativeResize="0"/>
          <p:nvPr/>
        </p:nvPicPr>
        <p:blipFill rotWithShape="1">
          <a:blip r:embed="rId5">
            <a:alphaModFix/>
          </a:blip>
          <a:srcRect b="20747" l="0" r="30513" t="23691"/>
          <a:stretch/>
        </p:blipFill>
        <p:spPr>
          <a:xfrm>
            <a:off x="9279469" y="519080"/>
            <a:ext cx="2810932" cy="723101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4"/>
          <p:cNvSpPr txBox="1"/>
          <p:nvPr/>
        </p:nvSpPr>
        <p:spPr>
          <a:xfrm>
            <a:off x="1894060" y="1501977"/>
            <a:ext cx="937507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3200">
                <a:solidFill>
                  <a:srgbClr val="0F4861"/>
                </a:solidFill>
                <a:latin typeface="Arial"/>
                <a:ea typeface="Arial"/>
                <a:cs typeface="Arial"/>
                <a:sym typeface="Arial"/>
              </a:rPr>
              <a:t>RESTRICCIONES Y LINEAMIENTOS TÉCNICOS</a:t>
            </a:r>
            <a:endParaRPr/>
          </a:p>
        </p:txBody>
      </p:sp>
      <p:pic>
        <p:nvPicPr>
          <p:cNvPr id="122" name="Google Shape;122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56358" y="1885530"/>
            <a:ext cx="8391511" cy="336114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4"/>
          <p:cNvSpPr txBox="1"/>
          <p:nvPr/>
        </p:nvSpPr>
        <p:spPr>
          <a:xfrm>
            <a:off x="2116667" y="2120044"/>
            <a:ext cx="81026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Requerimientos definidos por el CORE Valparaíso para el desarrollo e implementación del sistema.</a:t>
            </a:r>
            <a:endParaRPr/>
          </a:p>
        </p:txBody>
      </p:sp>
      <p:pic>
        <p:nvPicPr>
          <p:cNvPr id="124" name="Google Shape;124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56358" y="2816867"/>
            <a:ext cx="781159" cy="3854866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4"/>
          <p:cNvSpPr txBox="1"/>
          <p:nvPr/>
        </p:nvSpPr>
        <p:spPr>
          <a:xfrm>
            <a:off x="2897826" y="2882103"/>
            <a:ext cx="407246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4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PHP sin framework</a:t>
            </a:r>
            <a:endParaRPr b="1" sz="24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4"/>
          <p:cNvSpPr txBox="1"/>
          <p:nvPr/>
        </p:nvSpPr>
        <p:spPr>
          <a:xfrm>
            <a:off x="2901865" y="3354252"/>
            <a:ext cx="407246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4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MariaDB</a:t>
            </a:r>
            <a:endParaRPr b="1" sz="24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4"/>
          <p:cNvSpPr txBox="1"/>
          <p:nvPr/>
        </p:nvSpPr>
        <p:spPr>
          <a:xfrm>
            <a:off x="2897826" y="3845295"/>
            <a:ext cx="407246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4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Linux Debian</a:t>
            </a:r>
            <a:endParaRPr/>
          </a:p>
        </p:txBody>
      </p:sp>
      <p:sp>
        <p:nvSpPr>
          <p:cNvPr id="128" name="Google Shape;128;p4"/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4"/>
          <p:cNvSpPr txBox="1"/>
          <p:nvPr/>
        </p:nvSpPr>
        <p:spPr>
          <a:xfrm>
            <a:off x="2897826" y="4320888"/>
            <a:ext cx="407246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4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Librerías PHP existentes</a:t>
            </a:r>
            <a:endParaRPr/>
          </a:p>
        </p:txBody>
      </p:sp>
      <p:sp>
        <p:nvSpPr>
          <p:cNvPr id="130" name="Google Shape;130;p4"/>
          <p:cNvSpPr txBox="1"/>
          <p:nvPr/>
        </p:nvSpPr>
        <p:spPr>
          <a:xfrm>
            <a:off x="2897826" y="4796120"/>
            <a:ext cx="407246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4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API Clima</a:t>
            </a:r>
            <a:endParaRPr/>
          </a:p>
        </p:txBody>
      </p:sp>
      <p:sp>
        <p:nvSpPr>
          <p:cNvPr id="131" name="Google Shape;131;p4"/>
          <p:cNvSpPr txBox="1"/>
          <p:nvPr/>
        </p:nvSpPr>
        <p:spPr>
          <a:xfrm>
            <a:off x="2897825" y="5725802"/>
            <a:ext cx="407246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4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GitHub privado</a:t>
            </a:r>
            <a:endParaRPr/>
          </a:p>
        </p:txBody>
      </p:sp>
      <p:sp>
        <p:nvSpPr>
          <p:cNvPr id="132" name="Google Shape;132;p4"/>
          <p:cNvSpPr txBox="1"/>
          <p:nvPr/>
        </p:nvSpPr>
        <p:spPr>
          <a:xfrm>
            <a:off x="2897825" y="5237484"/>
            <a:ext cx="509903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4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Compatibilidad con COREGEDOC</a:t>
            </a:r>
            <a:endParaRPr/>
          </a:p>
        </p:txBody>
      </p:sp>
      <p:sp>
        <p:nvSpPr>
          <p:cNvPr id="133" name="Google Shape;133;p4"/>
          <p:cNvSpPr txBox="1"/>
          <p:nvPr/>
        </p:nvSpPr>
        <p:spPr>
          <a:xfrm>
            <a:off x="2897825" y="6184667"/>
            <a:ext cx="543337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4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Continuidad arquitectura existente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78" y="0"/>
            <a:ext cx="12185522" cy="68580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9" name="Google Shape;13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7949" y="306330"/>
            <a:ext cx="1799998" cy="10772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5"/>
          <p:cNvPicPr preferRelativeResize="0"/>
          <p:nvPr/>
        </p:nvPicPr>
        <p:blipFill rotWithShape="1">
          <a:blip r:embed="rId5">
            <a:alphaModFix/>
          </a:blip>
          <a:srcRect b="20747" l="0" r="30513" t="23691"/>
          <a:stretch/>
        </p:blipFill>
        <p:spPr>
          <a:xfrm>
            <a:off x="9727487" y="600164"/>
            <a:ext cx="2506850" cy="644877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5"/>
          <p:cNvSpPr txBox="1"/>
          <p:nvPr/>
        </p:nvSpPr>
        <p:spPr>
          <a:xfrm>
            <a:off x="3345209" y="994082"/>
            <a:ext cx="6081183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4861"/>
              </a:buClr>
              <a:buSzPts val="2800"/>
              <a:buFont typeface="Arial"/>
              <a:buNone/>
            </a:pPr>
            <a:r>
              <a:rPr b="1" lang="es-CL" sz="2800">
                <a:solidFill>
                  <a:srgbClr val="0F4861"/>
                </a:solidFill>
                <a:latin typeface="Arial"/>
                <a:ea typeface="Arial"/>
                <a:cs typeface="Arial"/>
                <a:sym typeface="Arial"/>
              </a:rPr>
              <a:t>ARQUITECTURA Y TECNOLOGÍAS</a:t>
            </a:r>
            <a:endParaRPr b="0"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b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2" name="Google Shape;142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514541" y="1338416"/>
            <a:ext cx="5827183" cy="337747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5"/>
          <p:cNvSpPr/>
          <p:nvPr/>
        </p:nvSpPr>
        <p:spPr>
          <a:xfrm>
            <a:off x="948255" y="2057396"/>
            <a:ext cx="2726268" cy="855133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4" name="Google Shape;144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47726" y="2195323"/>
            <a:ext cx="2165752" cy="6131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05063" y="3208862"/>
            <a:ext cx="4490816" cy="2854671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5"/>
          <p:cNvSpPr/>
          <p:nvPr/>
        </p:nvSpPr>
        <p:spPr>
          <a:xfrm>
            <a:off x="7382935" y="2042924"/>
            <a:ext cx="1958790" cy="1851743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AEAEAE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9628970" y="2071301"/>
            <a:ext cx="2023533" cy="185269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AEAEAE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7391402" y="4267200"/>
            <a:ext cx="2023533" cy="1851743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AEAEAE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9628970" y="4267200"/>
            <a:ext cx="2023533" cy="1851743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AEAEAE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0" name="Google Shape;150;p5"/>
          <p:cNvPicPr preferRelativeResize="0"/>
          <p:nvPr/>
        </p:nvPicPr>
        <p:blipFill rotWithShape="1">
          <a:blip r:embed="rId9">
            <a:alphaModFix/>
          </a:blip>
          <a:srcRect b="4815" l="0" r="30277" t="32222"/>
          <a:stretch/>
        </p:blipFill>
        <p:spPr>
          <a:xfrm>
            <a:off x="5798116" y="3414642"/>
            <a:ext cx="1233060" cy="18236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1" name="Google Shape;151;p5"/>
          <p:cNvCxnSpPr/>
          <p:nvPr/>
        </p:nvCxnSpPr>
        <p:spPr>
          <a:xfrm rot="10800000">
            <a:off x="6428132" y="2785531"/>
            <a:ext cx="793935" cy="0"/>
          </a:xfrm>
          <a:prstGeom prst="straightConnector1">
            <a:avLst/>
          </a:prstGeom>
          <a:noFill/>
          <a:ln cap="flat" cmpd="sng" w="1905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152" name="Google Shape;152;p5"/>
          <p:cNvCxnSpPr/>
          <p:nvPr/>
        </p:nvCxnSpPr>
        <p:spPr>
          <a:xfrm>
            <a:off x="6428132" y="2793998"/>
            <a:ext cx="0" cy="510573"/>
          </a:xfrm>
          <a:prstGeom prst="straightConnector1">
            <a:avLst/>
          </a:prstGeom>
          <a:noFill/>
          <a:ln cap="flat" cmpd="sng" w="19050">
            <a:solidFill>
              <a:srgbClr val="7F7F7F"/>
            </a:solidFill>
            <a:prstDash val="dash"/>
            <a:miter lim="800000"/>
            <a:headEnd len="sm" w="sm" type="none"/>
            <a:tailEnd len="med" w="med" type="triangle"/>
          </a:ln>
        </p:spPr>
      </p:cxnSp>
      <p:cxnSp>
        <p:nvCxnSpPr>
          <p:cNvPr id="153" name="Google Shape;153;p5"/>
          <p:cNvCxnSpPr/>
          <p:nvPr/>
        </p:nvCxnSpPr>
        <p:spPr>
          <a:xfrm>
            <a:off x="6428132" y="4174069"/>
            <a:ext cx="0" cy="393441"/>
          </a:xfrm>
          <a:prstGeom prst="straightConnector1">
            <a:avLst/>
          </a:prstGeom>
          <a:noFill/>
          <a:ln cap="flat" cmpd="sng" w="19050">
            <a:solidFill>
              <a:srgbClr val="7F7F7F"/>
            </a:solidFill>
            <a:prstDash val="dash"/>
            <a:miter lim="800000"/>
            <a:headEnd len="sm" w="sm" type="none"/>
            <a:tailEnd len="med" w="med" type="triangle"/>
          </a:ln>
        </p:spPr>
      </p:cxnSp>
      <p:cxnSp>
        <p:nvCxnSpPr>
          <p:cNvPr id="154" name="Google Shape;154;p5"/>
          <p:cNvCxnSpPr/>
          <p:nvPr/>
        </p:nvCxnSpPr>
        <p:spPr>
          <a:xfrm rot="10800000">
            <a:off x="6913611" y="4903602"/>
            <a:ext cx="308456" cy="0"/>
          </a:xfrm>
          <a:prstGeom prst="straightConnector1">
            <a:avLst/>
          </a:prstGeom>
          <a:noFill/>
          <a:ln cap="flat" cmpd="sng" w="19050">
            <a:solidFill>
              <a:srgbClr val="7F7F7F"/>
            </a:solidFill>
            <a:prstDash val="dash"/>
            <a:miter lim="800000"/>
            <a:headEnd len="sm" w="sm" type="none"/>
            <a:tailEnd len="med" w="med" type="triangle"/>
          </a:ln>
        </p:spPr>
      </p:cxnSp>
      <p:pic>
        <p:nvPicPr>
          <p:cNvPr id="155" name="Google Shape;155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619893" y="2253213"/>
            <a:ext cx="1420359" cy="8510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996569" y="2231067"/>
            <a:ext cx="1186732" cy="8412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061702" y="4434533"/>
            <a:ext cx="723907" cy="865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192523" y="4502374"/>
            <a:ext cx="1002096" cy="947669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5"/>
          <p:cNvSpPr txBox="1"/>
          <p:nvPr/>
        </p:nvSpPr>
        <p:spPr>
          <a:xfrm>
            <a:off x="7562739" y="3106865"/>
            <a:ext cx="1721831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PHP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(Sin framework)</a:t>
            </a:r>
            <a:endParaRPr/>
          </a:p>
        </p:txBody>
      </p:sp>
      <p:sp>
        <p:nvSpPr>
          <p:cNvPr id="160" name="Google Shape;160;p5"/>
          <p:cNvSpPr txBox="1"/>
          <p:nvPr/>
        </p:nvSpPr>
        <p:spPr>
          <a:xfrm>
            <a:off x="9779820" y="3134047"/>
            <a:ext cx="1721831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MariaDB</a:t>
            </a:r>
            <a:endParaRPr b="1" sz="18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Base de datos</a:t>
            </a:r>
            <a:endParaRPr/>
          </a:p>
        </p:txBody>
      </p:sp>
      <p:sp>
        <p:nvSpPr>
          <p:cNvPr id="161" name="Google Shape;161;p5"/>
          <p:cNvSpPr txBox="1"/>
          <p:nvPr/>
        </p:nvSpPr>
        <p:spPr>
          <a:xfrm>
            <a:off x="7575412" y="5359396"/>
            <a:ext cx="1721831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Linux Debian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Entorno</a:t>
            </a:r>
            <a:endParaRPr/>
          </a:p>
        </p:txBody>
      </p:sp>
      <p:sp>
        <p:nvSpPr>
          <p:cNvPr id="162" name="Google Shape;162;p5"/>
          <p:cNvSpPr txBox="1"/>
          <p:nvPr/>
        </p:nvSpPr>
        <p:spPr>
          <a:xfrm>
            <a:off x="9832655" y="5476716"/>
            <a:ext cx="1721831" cy="6155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Privado</a:t>
            </a:r>
            <a:endParaRPr/>
          </a:p>
        </p:txBody>
      </p:sp>
      <p:sp>
        <p:nvSpPr>
          <p:cNvPr id="163" name="Google Shape;163;p5"/>
          <p:cNvSpPr txBox="1"/>
          <p:nvPr/>
        </p:nvSpPr>
        <p:spPr>
          <a:xfrm>
            <a:off x="1147949" y="6118943"/>
            <a:ext cx="6427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mantuvo la arquitectura original  del sistema para asegurar</a:t>
            </a:r>
            <a:endParaRPr sz="13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continuidad y compatibilidad institucional.</a:t>
            </a:r>
            <a:endParaRPr sz="13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989" y="0"/>
            <a:ext cx="12185522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1881" y="431822"/>
            <a:ext cx="1392052" cy="8330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6"/>
          <p:cNvPicPr preferRelativeResize="0"/>
          <p:nvPr/>
        </p:nvPicPr>
        <p:blipFill rotWithShape="1">
          <a:blip r:embed="rId5">
            <a:alphaModFix/>
          </a:blip>
          <a:srcRect b="20747" l="0" r="30513" t="23691"/>
          <a:stretch/>
        </p:blipFill>
        <p:spPr>
          <a:xfrm>
            <a:off x="9279469" y="593133"/>
            <a:ext cx="2523064" cy="649048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6"/>
          <p:cNvSpPr txBox="1"/>
          <p:nvPr/>
        </p:nvSpPr>
        <p:spPr>
          <a:xfrm>
            <a:off x="1291875" y="1437050"/>
            <a:ext cx="5916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900">
                <a:solidFill>
                  <a:srgbClr val="0F4861"/>
                </a:solidFill>
                <a:latin typeface="Arial"/>
                <a:ea typeface="Arial"/>
                <a:cs typeface="Arial"/>
                <a:sym typeface="Arial"/>
              </a:rPr>
              <a:t>METODOLOGÍA DE TRABAJO</a:t>
            </a:r>
            <a:endParaRPr sz="1100"/>
          </a:p>
        </p:txBody>
      </p:sp>
      <p:pic>
        <p:nvPicPr>
          <p:cNvPr id="172" name="Google Shape;172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29825" y="1890704"/>
            <a:ext cx="5114909" cy="234431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6"/>
          <p:cNvSpPr txBox="1"/>
          <p:nvPr/>
        </p:nvSpPr>
        <p:spPr>
          <a:xfrm>
            <a:off x="1369125" y="2229950"/>
            <a:ext cx="4992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desarrollo se organizó mediante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Metodología Scrum, utilizando Sprint 1 como primera etapa de análisis, implementación y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validación funcional.</a:t>
            </a:r>
            <a:endParaRPr/>
          </a:p>
        </p:txBody>
      </p:sp>
      <p:pic>
        <p:nvPicPr>
          <p:cNvPr id="174" name="Google Shape;174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52947" y="3514299"/>
            <a:ext cx="3342298" cy="302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469651" y="1882805"/>
            <a:ext cx="2828789" cy="318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6"/>
          <p:cNvPicPr preferRelativeResize="0"/>
          <p:nvPr/>
        </p:nvPicPr>
        <p:blipFill rotWithShape="1">
          <a:blip r:embed="rId9">
            <a:alphaModFix/>
          </a:blip>
          <a:srcRect b="40969" l="0" r="21705" t="0"/>
          <a:stretch/>
        </p:blipFill>
        <p:spPr>
          <a:xfrm>
            <a:off x="6469797" y="2288168"/>
            <a:ext cx="738190" cy="7531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481019" y="3983040"/>
            <a:ext cx="564048" cy="644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711036" y="1501233"/>
            <a:ext cx="841949" cy="8289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236200" y="3699074"/>
            <a:ext cx="1184081" cy="877789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6"/>
          <p:cNvSpPr txBox="1"/>
          <p:nvPr/>
        </p:nvSpPr>
        <p:spPr>
          <a:xfrm>
            <a:off x="6360990" y="2950974"/>
            <a:ext cx="109320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Dueño de Producto</a:t>
            </a:r>
            <a:endParaRPr/>
          </a:p>
        </p:txBody>
      </p:sp>
      <p:sp>
        <p:nvSpPr>
          <p:cNvPr id="181" name="Google Shape;181;p6"/>
          <p:cNvSpPr txBox="1"/>
          <p:nvPr/>
        </p:nvSpPr>
        <p:spPr>
          <a:xfrm>
            <a:off x="6149929" y="4649769"/>
            <a:ext cx="130471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Backlog del Producto</a:t>
            </a:r>
            <a:endParaRPr/>
          </a:p>
        </p:txBody>
      </p:sp>
      <p:sp>
        <p:nvSpPr>
          <p:cNvPr id="182" name="Google Shape;182;p6"/>
          <p:cNvSpPr txBox="1"/>
          <p:nvPr/>
        </p:nvSpPr>
        <p:spPr>
          <a:xfrm>
            <a:off x="10047668" y="2261943"/>
            <a:ext cx="165326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Revisión y Retrospectiva</a:t>
            </a:r>
            <a:endParaRPr/>
          </a:p>
        </p:txBody>
      </p:sp>
      <p:sp>
        <p:nvSpPr>
          <p:cNvPr id="183" name="Google Shape;183;p6"/>
          <p:cNvSpPr txBox="1"/>
          <p:nvPr/>
        </p:nvSpPr>
        <p:spPr>
          <a:xfrm>
            <a:off x="10339034" y="4539700"/>
            <a:ext cx="122643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Equipo de desarrollo</a:t>
            </a:r>
            <a:endParaRPr/>
          </a:p>
        </p:txBody>
      </p:sp>
      <p:sp>
        <p:nvSpPr>
          <p:cNvPr id="184" name="Google Shape;184;p6"/>
          <p:cNvSpPr/>
          <p:nvPr/>
        </p:nvSpPr>
        <p:spPr>
          <a:xfrm>
            <a:off x="5757328" y="5748867"/>
            <a:ext cx="1583266" cy="584775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1905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Backlog del Srpint</a:t>
            </a:r>
            <a:endParaRPr/>
          </a:p>
        </p:txBody>
      </p:sp>
      <p:pic>
        <p:nvPicPr>
          <p:cNvPr id="185" name="Google Shape;185;p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505059" y="5897350"/>
            <a:ext cx="420164" cy="36536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6"/>
          <p:cNvSpPr/>
          <p:nvPr/>
        </p:nvSpPr>
        <p:spPr>
          <a:xfrm>
            <a:off x="8111063" y="5747723"/>
            <a:ext cx="1583266" cy="584775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547D28"/>
              </a:gs>
              <a:gs pos="50000">
                <a:srgbClr val="7AB539"/>
              </a:gs>
              <a:gs pos="100000">
                <a:srgbClr val="92D946"/>
              </a:gs>
            </a:gsLst>
            <a:path path="circle">
              <a:fillToRect b="0%" l="100%" r="0%" t="100%"/>
            </a:path>
            <a:tileRect b="-100%" l="0%" r="-100%" t="0%"/>
          </a:gradFill>
          <a:ln cap="flat" cmpd="sng" w="19050">
            <a:solidFill>
              <a:srgbClr val="8CD872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Ejecución del Sprint</a:t>
            </a:r>
            <a:endParaRPr/>
          </a:p>
        </p:txBody>
      </p:sp>
      <p:sp>
        <p:nvSpPr>
          <p:cNvPr id="187" name="Google Shape;187;p6"/>
          <p:cNvSpPr/>
          <p:nvPr/>
        </p:nvSpPr>
        <p:spPr>
          <a:xfrm>
            <a:off x="10310135" y="5747722"/>
            <a:ext cx="1583266" cy="584775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547D28"/>
              </a:gs>
              <a:gs pos="50000">
                <a:srgbClr val="7AB539"/>
              </a:gs>
              <a:gs pos="100000">
                <a:srgbClr val="92D946"/>
              </a:gs>
            </a:gsLst>
            <a:path path="circle">
              <a:fillToRect b="0%" l="100%" r="0%" t="100%"/>
            </a:path>
            <a:tileRect b="-100%" l="0%" r="-100%" t="0%"/>
          </a:gradFill>
          <a:ln cap="flat" cmpd="sng" w="19050">
            <a:solidFill>
              <a:srgbClr val="8CD872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Entregable</a:t>
            </a:r>
            <a:endParaRPr/>
          </a:p>
        </p:txBody>
      </p:sp>
      <p:pic>
        <p:nvPicPr>
          <p:cNvPr id="188" name="Google Shape;188;p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779985" y="5814204"/>
            <a:ext cx="444494" cy="4675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78" y="0"/>
            <a:ext cx="12185522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1881" y="431798"/>
            <a:ext cx="1901410" cy="11379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7"/>
          <p:cNvPicPr preferRelativeResize="0"/>
          <p:nvPr/>
        </p:nvPicPr>
        <p:blipFill rotWithShape="1">
          <a:blip r:embed="rId5">
            <a:alphaModFix/>
          </a:blip>
          <a:srcRect b="20747" l="0" r="30513" t="23691"/>
          <a:stretch/>
        </p:blipFill>
        <p:spPr>
          <a:xfrm>
            <a:off x="9279469" y="519080"/>
            <a:ext cx="2810932" cy="723101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7"/>
          <p:cNvSpPr txBox="1"/>
          <p:nvPr/>
        </p:nvSpPr>
        <p:spPr>
          <a:xfrm>
            <a:off x="4152376" y="744491"/>
            <a:ext cx="4743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3000">
                <a:solidFill>
                  <a:srgbClr val="0F4861"/>
                </a:solidFill>
                <a:latin typeface="Arial"/>
                <a:ea typeface="Arial"/>
                <a:cs typeface="Arial"/>
                <a:sym typeface="Arial"/>
              </a:rPr>
              <a:t>DESARROLLO SPRINT 1</a:t>
            </a:r>
            <a:endParaRPr sz="1200"/>
          </a:p>
        </p:txBody>
      </p:sp>
      <p:pic>
        <p:nvPicPr>
          <p:cNvPr id="197" name="Google Shape;197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80273" y="1319534"/>
            <a:ext cx="4327509" cy="32427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7"/>
          <p:cNvSpPr txBox="1"/>
          <p:nvPr/>
        </p:nvSpPr>
        <p:spPr>
          <a:xfrm>
            <a:off x="4152376" y="1559122"/>
            <a:ext cx="47438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Funciones implementadas según Sprint 1</a:t>
            </a:r>
            <a:endParaRPr/>
          </a:p>
        </p:txBody>
      </p:sp>
      <p:pic>
        <p:nvPicPr>
          <p:cNvPr id="199" name="Google Shape;199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470030" y="2217920"/>
            <a:ext cx="3577555" cy="906641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5098"/>
              </a:srgbClr>
            </a:outerShdw>
          </a:effectLst>
        </p:spPr>
      </p:pic>
      <p:pic>
        <p:nvPicPr>
          <p:cNvPr id="200" name="Google Shape;200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470030" y="3181569"/>
            <a:ext cx="3577555" cy="818075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5098"/>
              </a:srgbClr>
            </a:outerShdw>
          </a:effectLst>
        </p:spPr>
      </p:pic>
      <p:pic>
        <p:nvPicPr>
          <p:cNvPr id="201" name="Google Shape;201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470030" y="4026935"/>
            <a:ext cx="3577555" cy="818075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5098"/>
              </a:srgbClr>
            </a:outerShdw>
          </a:effectLst>
        </p:spPr>
      </p:pic>
      <p:pic>
        <p:nvPicPr>
          <p:cNvPr id="202" name="Google Shape;202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470030" y="4906838"/>
            <a:ext cx="3577555" cy="801613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5098"/>
              </a:srgbClr>
            </a:outerShdw>
          </a:effectLst>
        </p:spPr>
      </p:pic>
      <p:pic>
        <p:nvPicPr>
          <p:cNvPr id="203" name="Google Shape;203;p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470030" y="5770279"/>
            <a:ext cx="3659567" cy="818075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5098"/>
              </a:srgbClr>
            </a:outerShdw>
          </a:effectLst>
        </p:spPr>
      </p:pic>
      <p:pic>
        <p:nvPicPr>
          <p:cNvPr id="204" name="Google Shape;204;p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532891" y="2325336"/>
            <a:ext cx="3577555" cy="856233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5098"/>
              </a:srgbClr>
            </a:outerShdw>
          </a:effectLst>
        </p:spPr>
      </p:pic>
      <p:pic>
        <p:nvPicPr>
          <p:cNvPr id="205" name="Google Shape;205;p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532891" y="3207696"/>
            <a:ext cx="3659567" cy="849383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5098"/>
              </a:srgbClr>
            </a:outerShdw>
          </a:effectLst>
        </p:spPr>
      </p:pic>
      <p:pic>
        <p:nvPicPr>
          <p:cNvPr id="206" name="Google Shape;206;p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532891" y="4083206"/>
            <a:ext cx="3659567" cy="841256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5098"/>
              </a:srgbClr>
            </a:outerShdw>
          </a:effectLst>
        </p:spPr>
      </p:pic>
      <p:pic>
        <p:nvPicPr>
          <p:cNvPr id="207" name="Google Shape;207;p7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532891" y="4956352"/>
            <a:ext cx="3562581" cy="891333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5098"/>
              </a:srgbClr>
            </a:outerShdw>
          </a:effectLst>
        </p:spPr>
      </p:pic>
      <p:sp>
        <p:nvSpPr>
          <p:cNvPr id="208" name="Google Shape;208;p7"/>
          <p:cNvSpPr txBox="1"/>
          <p:nvPr/>
        </p:nvSpPr>
        <p:spPr>
          <a:xfrm>
            <a:off x="2328333" y="2404530"/>
            <a:ext cx="195194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 acceso perfiles</a:t>
            </a:r>
            <a:endParaRPr/>
          </a:p>
        </p:txBody>
      </p:sp>
      <p:sp>
        <p:nvSpPr>
          <p:cNvPr id="209" name="Google Shape;209;p7"/>
          <p:cNvSpPr txBox="1"/>
          <p:nvPr/>
        </p:nvSpPr>
        <p:spPr>
          <a:xfrm>
            <a:off x="2282837" y="3260024"/>
            <a:ext cx="195194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Navegación módulo pleno</a:t>
            </a:r>
            <a:endParaRPr/>
          </a:p>
        </p:txBody>
      </p:sp>
      <p:sp>
        <p:nvSpPr>
          <p:cNvPr id="210" name="Google Shape;210;p7"/>
          <p:cNvSpPr txBox="1"/>
          <p:nvPr/>
        </p:nvSpPr>
        <p:spPr>
          <a:xfrm>
            <a:off x="2295013" y="4112806"/>
            <a:ext cx="19519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Crear sesiones</a:t>
            </a:r>
            <a:endParaRPr/>
          </a:p>
        </p:txBody>
      </p:sp>
      <p:sp>
        <p:nvSpPr>
          <p:cNvPr id="211" name="Google Shape;211;p7"/>
          <p:cNvSpPr txBox="1"/>
          <p:nvPr/>
        </p:nvSpPr>
        <p:spPr>
          <a:xfrm>
            <a:off x="2295013" y="4975712"/>
            <a:ext cx="19519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Editar sesiones</a:t>
            </a:r>
            <a:endParaRPr/>
          </a:p>
        </p:txBody>
      </p:sp>
      <p:sp>
        <p:nvSpPr>
          <p:cNvPr id="212" name="Google Shape;212;p7"/>
          <p:cNvSpPr txBox="1"/>
          <p:nvPr/>
        </p:nvSpPr>
        <p:spPr>
          <a:xfrm>
            <a:off x="2307189" y="5808721"/>
            <a:ext cx="195194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Eliminación lógica</a:t>
            </a:r>
            <a:endParaRPr/>
          </a:p>
        </p:txBody>
      </p:sp>
      <p:sp>
        <p:nvSpPr>
          <p:cNvPr id="213" name="Google Shape;213;p7"/>
          <p:cNvSpPr txBox="1"/>
          <p:nvPr/>
        </p:nvSpPr>
        <p:spPr>
          <a:xfrm>
            <a:off x="6345698" y="2448149"/>
            <a:ext cx="195194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Asociación comisiones</a:t>
            </a:r>
            <a:endParaRPr/>
          </a:p>
        </p:txBody>
      </p:sp>
      <p:sp>
        <p:nvSpPr>
          <p:cNvPr id="214" name="Google Shape;214;p7"/>
          <p:cNvSpPr txBox="1"/>
          <p:nvPr/>
        </p:nvSpPr>
        <p:spPr>
          <a:xfrm>
            <a:off x="6386704" y="3353313"/>
            <a:ext cx="195194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Comisión imprevista</a:t>
            </a:r>
            <a:endParaRPr/>
          </a:p>
        </p:txBody>
      </p:sp>
      <p:sp>
        <p:nvSpPr>
          <p:cNvPr id="215" name="Google Shape;215;p7"/>
          <p:cNvSpPr txBox="1"/>
          <p:nvPr/>
        </p:nvSpPr>
        <p:spPr>
          <a:xfrm>
            <a:off x="6386704" y="4180668"/>
            <a:ext cx="19519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Puntos de tabla</a:t>
            </a:r>
            <a:endParaRPr/>
          </a:p>
        </p:txBody>
      </p:sp>
      <p:sp>
        <p:nvSpPr>
          <p:cNvPr id="216" name="Google Shape;216;p7"/>
          <p:cNvSpPr txBox="1"/>
          <p:nvPr/>
        </p:nvSpPr>
        <p:spPr>
          <a:xfrm>
            <a:off x="6355608" y="5062120"/>
            <a:ext cx="19519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Persistencia BD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9" y="0"/>
            <a:ext cx="12185522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15681" y="423393"/>
            <a:ext cx="1561866" cy="934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8"/>
          <p:cNvPicPr preferRelativeResize="0"/>
          <p:nvPr/>
        </p:nvPicPr>
        <p:blipFill rotWithShape="1">
          <a:blip r:embed="rId5">
            <a:alphaModFix/>
          </a:blip>
          <a:srcRect b="20747" l="0" r="30513" t="23691"/>
          <a:stretch/>
        </p:blipFill>
        <p:spPr>
          <a:xfrm>
            <a:off x="9279469" y="519080"/>
            <a:ext cx="2810932" cy="723101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8"/>
          <p:cNvSpPr txBox="1"/>
          <p:nvPr/>
        </p:nvSpPr>
        <p:spPr>
          <a:xfrm>
            <a:off x="4152376" y="744491"/>
            <a:ext cx="4743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3000">
                <a:solidFill>
                  <a:srgbClr val="0F4861"/>
                </a:solidFill>
                <a:latin typeface="Arial"/>
                <a:ea typeface="Arial"/>
                <a:cs typeface="Arial"/>
                <a:sym typeface="Arial"/>
              </a:rPr>
              <a:t>ACCESO POR PERFILES</a:t>
            </a:r>
            <a:endParaRPr sz="1200"/>
          </a:p>
        </p:txBody>
      </p:sp>
      <p:pic>
        <p:nvPicPr>
          <p:cNvPr id="225" name="Google Shape;225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80273" y="1260265"/>
            <a:ext cx="4327509" cy="32427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8"/>
          <p:cNvSpPr txBox="1"/>
          <p:nvPr/>
        </p:nvSpPr>
        <p:spPr>
          <a:xfrm>
            <a:off x="518686" y="1905506"/>
            <a:ext cx="3569456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Spint 1 incorporó acceso controlado al módulo Pleno, según perfiles definidos por el CORE.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control se realiza mediante autenticación y validación del tipo de usuario.</a:t>
            </a:r>
            <a:endParaRPr/>
          </a:p>
        </p:txBody>
      </p:sp>
      <p:sp>
        <p:nvSpPr>
          <p:cNvPr id="227" name="Google Shape;227;p8"/>
          <p:cNvSpPr txBox="1"/>
          <p:nvPr/>
        </p:nvSpPr>
        <p:spPr>
          <a:xfrm>
            <a:off x="518686" y="3059668"/>
            <a:ext cx="28702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rgbClr val="0F4861"/>
                </a:solidFill>
                <a:latin typeface="Arial"/>
                <a:ea typeface="Arial"/>
                <a:cs typeface="Arial"/>
                <a:sym typeface="Arial"/>
              </a:rPr>
              <a:t>PERFILES</a:t>
            </a:r>
            <a:endParaRPr/>
          </a:p>
        </p:txBody>
      </p:sp>
      <p:pic>
        <p:nvPicPr>
          <p:cNvPr id="228" name="Google Shape;228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6310" y="3550146"/>
            <a:ext cx="3823963" cy="1358101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5098"/>
              </a:srgbClr>
            </a:outerShdw>
          </a:effectLst>
        </p:spPr>
      </p:pic>
      <p:pic>
        <p:nvPicPr>
          <p:cNvPr id="229" name="Google Shape;229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6310" y="4908247"/>
            <a:ext cx="3795121" cy="1661886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5098"/>
              </a:srgbClr>
            </a:outerShdw>
          </a:effectLst>
        </p:spPr>
      </p:pic>
      <p:sp>
        <p:nvSpPr>
          <p:cNvPr id="230" name="Google Shape;230;p8"/>
          <p:cNvSpPr/>
          <p:nvPr/>
        </p:nvSpPr>
        <p:spPr>
          <a:xfrm>
            <a:off x="1100667" y="5747656"/>
            <a:ext cx="1032933" cy="2540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1" name="Google Shape;231;p8"/>
          <p:cNvCxnSpPr/>
          <p:nvPr/>
        </p:nvCxnSpPr>
        <p:spPr>
          <a:xfrm>
            <a:off x="4394200" y="2125133"/>
            <a:ext cx="0" cy="4445000"/>
          </a:xfrm>
          <a:prstGeom prst="straightConnector1">
            <a:avLst/>
          </a:prstGeom>
          <a:noFill/>
          <a:ln cap="flat" cmpd="sng" w="19050">
            <a:solidFill>
              <a:srgbClr val="D0D0D0"/>
            </a:solidFill>
            <a:prstDash val="dash"/>
            <a:miter lim="800000"/>
            <a:headEnd len="sm" w="sm" type="none"/>
            <a:tailEnd len="sm" w="sm" type="none"/>
          </a:ln>
        </p:spPr>
      </p:cxnSp>
      <p:pic>
        <p:nvPicPr>
          <p:cNvPr id="232" name="Google Shape;232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586330" y="2590800"/>
            <a:ext cx="3775597" cy="3522709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5098"/>
              </a:srgbClr>
            </a:outerShdw>
          </a:effectLst>
        </p:spPr>
      </p:pic>
      <p:pic>
        <p:nvPicPr>
          <p:cNvPr id="233" name="Google Shape;233;p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475863" y="2590800"/>
            <a:ext cx="3335135" cy="3598333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5098"/>
              </a:srgbClr>
            </a:outerShdw>
          </a:effectLst>
        </p:spPr>
      </p:pic>
      <p:pic>
        <p:nvPicPr>
          <p:cNvPr id="234" name="Google Shape;234;p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728431" y="1998270"/>
            <a:ext cx="3325201" cy="507401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5098"/>
              </a:srgbClr>
            </a:outerShdw>
          </a:effectLst>
        </p:spPr>
      </p:pic>
      <p:pic>
        <p:nvPicPr>
          <p:cNvPr id="235" name="Google Shape;235;p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662799" y="1998270"/>
            <a:ext cx="2920033" cy="50740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5098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9" y="0"/>
            <a:ext cx="12185522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91881" y="431798"/>
            <a:ext cx="1901410" cy="11379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9"/>
          <p:cNvPicPr preferRelativeResize="0"/>
          <p:nvPr/>
        </p:nvPicPr>
        <p:blipFill rotWithShape="1">
          <a:blip r:embed="rId5">
            <a:alphaModFix/>
          </a:blip>
          <a:srcRect b="20747" l="0" r="30513" t="23691"/>
          <a:stretch/>
        </p:blipFill>
        <p:spPr>
          <a:xfrm>
            <a:off x="9279469" y="519080"/>
            <a:ext cx="2810932" cy="723101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9"/>
          <p:cNvSpPr txBox="1"/>
          <p:nvPr/>
        </p:nvSpPr>
        <p:spPr>
          <a:xfrm>
            <a:off x="3863975" y="663014"/>
            <a:ext cx="474380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400">
                <a:solidFill>
                  <a:srgbClr val="0F4861"/>
                </a:solidFill>
              </a:rPr>
              <a:t>GESTIÓN</a:t>
            </a:r>
            <a:r>
              <a:rPr b="1" lang="es-CL" sz="2400">
                <a:solidFill>
                  <a:srgbClr val="0F4861"/>
                </a:solidFill>
                <a:latin typeface="Arial"/>
                <a:ea typeface="Arial"/>
                <a:cs typeface="Arial"/>
                <a:sym typeface="Arial"/>
              </a:rPr>
              <a:t> DE SESIONES</a:t>
            </a:r>
            <a:endParaRPr/>
          </a:p>
        </p:txBody>
      </p:sp>
      <p:pic>
        <p:nvPicPr>
          <p:cNvPr id="244" name="Google Shape;244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49180" y="1058432"/>
            <a:ext cx="3222088" cy="13231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9"/>
          <p:cNvSpPr txBox="1"/>
          <p:nvPr/>
        </p:nvSpPr>
        <p:spPr>
          <a:xfrm>
            <a:off x="797175" y="1703449"/>
            <a:ext cx="3005667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implementó la gestión inicial de </a:t>
            </a:r>
            <a:r>
              <a:rPr b="1" lang="es-C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Sesiones Plenarias</a:t>
            </a:r>
            <a:r>
              <a:rPr lang="es-C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permitiendo registrar, editar y visualizar la información de la sesión plenaria.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6" name="Google Shape;246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14925" y="2894191"/>
            <a:ext cx="4023907" cy="3598074"/>
          </a:xfrm>
          <a:prstGeom prst="rect">
            <a:avLst/>
          </a:prstGeom>
          <a:noFill/>
          <a:ln>
            <a:noFill/>
          </a:ln>
          <a:effectLst>
            <a:outerShdw blurRad="190500" rotWithShape="0" algn="tl">
              <a:srgbClr val="000000">
                <a:alpha val="70196"/>
              </a:srgbClr>
            </a:outerShdw>
          </a:effectLst>
        </p:spPr>
      </p:pic>
      <p:pic>
        <p:nvPicPr>
          <p:cNvPr id="247" name="Google Shape;247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29571" y="1569708"/>
            <a:ext cx="7347504" cy="2884883"/>
          </a:xfrm>
          <a:prstGeom prst="rect">
            <a:avLst/>
          </a:prstGeom>
          <a:noFill/>
          <a:ln>
            <a:noFill/>
          </a:ln>
          <a:effectLst>
            <a:outerShdw blurRad="190500" rotWithShape="0" algn="tl">
              <a:srgbClr val="000000">
                <a:alpha val="70196"/>
              </a:srgbClr>
            </a:outerShdw>
          </a:effectLst>
        </p:spPr>
      </p:pic>
      <p:pic>
        <p:nvPicPr>
          <p:cNvPr id="248" name="Google Shape;248;p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203323" y="3565064"/>
            <a:ext cx="3519830" cy="3178974"/>
          </a:xfrm>
          <a:prstGeom prst="rect">
            <a:avLst/>
          </a:prstGeom>
          <a:noFill/>
          <a:ln>
            <a:noFill/>
          </a:ln>
          <a:effectLst>
            <a:outerShdw blurRad="190500" rotWithShape="0" algn="tl">
              <a:srgbClr val="000000">
                <a:alpha val="70196"/>
              </a:srgbClr>
            </a:outerShdw>
          </a:effectLst>
        </p:spPr>
      </p:pic>
      <p:pic>
        <p:nvPicPr>
          <p:cNvPr id="249" name="Google Shape;249;p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675157" y="3565064"/>
            <a:ext cx="3337427" cy="3178974"/>
          </a:xfrm>
          <a:prstGeom prst="rect">
            <a:avLst/>
          </a:prstGeom>
          <a:noFill/>
          <a:ln>
            <a:noFill/>
          </a:ln>
          <a:effectLst>
            <a:outerShdw blurRad="190500" rotWithShape="0" algn="tl">
              <a:srgbClr val="000000">
                <a:alpha val="70196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9" y="0"/>
            <a:ext cx="12185522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415" y="518580"/>
            <a:ext cx="1713962" cy="10257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10"/>
          <p:cNvPicPr preferRelativeResize="0"/>
          <p:nvPr/>
        </p:nvPicPr>
        <p:blipFill rotWithShape="1">
          <a:blip r:embed="rId5">
            <a:alphaModFix/>
          </a:blip>
          <a:srcRect b="20747" l="0" r="30513" t="23691"/>
          <a:stretch/>
        </p:blipFill>
        <p:spPr>
          <a:xfrm>
            <a:off x="9262534" y="365285"/>
            <a:ext cx="2768600" cy="712212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10"/>
          <p:cNvSpPr txBox="1"/>
          <p:nvPr/>
        </p:nvSpPr>
        <p:spPr>
          <a:xfrm>
            <a:off x="4274313" y="707088"/>
            <a:ext cx="41499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3300">
                <a:solidFill>
                  <a:srgbClr val="0F4861"/>
                </a:solidFill>
                <a:latin typeface="Arial"/>
                <a:ea typeface="Arial"/>
                <a:cs typeface="Arial"/>
                <a:sym typeface="Arial"/>
              </a:rPr>
              <a:t>TABLA DEL PLENO</a:t>
            </a:r>
            <a:endParaRPr sz="1100"/>
          </a:p>
        </p:txBody>
      </p:sp>
      <p:sp>
        <p:nvSpPr>
          <p:cNvPr id="258" name="Google Shape;258;p10"/>
          <p:cNvSpPr txBox="1"/>
          <p:nvPr/>
        </p:nvSpPr>
        <p:spPr>
          <a:xfrm>
            <a:off x="1149004" y="1829798"/>
            <a:ext cx="301990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sistema permite visualizar el contenido del pleno mediante distintos tipos de puntos.</a:t>
            </a:r>
            <a:endParaRPr/>
          </a:p>
        </p:txBody>
      </p:sp>
      <p:pic>
        <p:nvPicPr>
          <p:cNvPr id="259" name="Google Shape;259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49003" y="3243605"/>
            <a:ext cx="3214468" cy="989727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5098"/>
              </a:srgbClr>
            </a:outerShdw>
          </a:effectLst>
        </p:spPr>
      </p:pic>
      <p:pic>
        <p:nvPicPr>
          <p:cNvPr id="260" name="Google Shape;260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33605" y="4329056"/>
            <a:ext cx="3436196" cy="917717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5098"/>
              </a:srgbClr>
            </a:outerShdw>
          </a:effectLst>
        </p:spPr>
      </p:pic>
      <p:pic>
        <p:nvPicPr>
          <p:cNvPr id="261" name="Google Shape;261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33600" y="5391276"/>
            <a:ext cx="3214474" cy="917725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5098"/>
              </a:srgbClr>
            </a:outerShdw>
          </a:effectLst>
        </p:spPr>
      </p:pic>
      <p:pic>
        <p:nvPicPr>
          <p:cNvPr id="262" name="Google Shape;262;p1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989625" y="1981175"/>
            <a:ext cx="6397801" cy="3597049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5098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9" y="0"/>
            <a:ext cx="12185522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415" y="518580"/>
            <a:ext cx="1713962" cy="10257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11"/>
          <p:cNvPicPr preferRelativeResize="0"/>
          <p:nvPr/>
        </p:nvPicPr>
        <p:blipFill rotWithShape="1">
          <a:blip r:embed="rId5">
            <a:alphaModFix/>
          </a:blip>
          <a:srcRect b="20747" l="0" r="30513" t="23691"/>
          <a:stretch/>
        </p:blipFill>
        <p:spPr>
          <a:xfrm>
            <a:off x="9262534" y="365285"/>
            <a:ext cx="2768600" cy="712212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11"/>
          <p:cNvSpPr txBox="1"/>
          <p:nvPr/>
        </p:nvSpPr>
        <p:spPr>
          <a:xfrm>
            <a:off x="4274313" y="707088"/>
            <a:ext cx="4150019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3600">
                <a:solidFill>
                  <a:srgbClr val="0F4861"/>
                </a:solidFill>
                <a:latin typeface="Arial"/>
                <a:ea typeface="Arial"/>
                <a:cs typeface="Arial"/>
                <a:sym typeface="Arial"/>
              </a:rPr>
              <a:t>PERSISTENCIA Y TRAZABILIDAD</a:t>
            </a:r>
            <a:endParaRPr/>
          </a:p>
        </p:txBody>
      </p:sp>
      <p:sp>
        <p:nvSpPr>
          <p:cNvPr id="271" name="Google Shape;271;p11"/>
          <p:cNvSpPr txBox="1"/>
          <p:nvPr/>
        </p:nvSpPr>
        <p:spPr>
          <a:xfrm>
            <a:off x="776470" y="2193865"/>
            <a:ext cx="33384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proteger la integridad y trazabilidad de la información, se implementó la </a:t>
            </a:r>
            <a:r>
              <a:rPr b="1" lang="es-CL" sz="1600">
                <a:solidFill>
                  <a:srgbClr val="43D658"/>
                </a:solidFill>
                <a:latin typeface="Arial"/>
                <a:ea typeface="Arial"/>
                <a:cs typeface="Arial"/>
                <a:sym typeface="Arial"/>
              </a:rPr>
              <a:t>eliminación lógica </a:t>
            </a:r>
            <a:r>
              <a:rPr lang="es-C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mediante vigencia 0/1, evitando la </a:t>
            </a:r>
            <a:r>
              <a:rPr lang="es-CL" sz="1600">
                <a:solidFill>
                  <a:schemeClr val="dk1"/>
                </a:solidFill>
              </a:rPr>
              <a:t>pérdida</a:t>
            </a:r>
            <a:r>
              <a:rPr lang="es-CL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física de registros y manteniendo histórico de cambios.</a:t>
            </a:r>
            <a:endParaRPr b="1" sz="1600">
              <a:solidFill>
                <a:srgbClr val="43D65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1"/>
          <p:cNvSpPr txBox="1"/>
          <p:nvPr/>
        </p:nvSpPr>
        <p:spPr>
          <a:xfrm>
            <a:off x="855133" y="4047065"/>
            <a:ext cx="276013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rgbClr val="43D658"/>
                </a:solidFill>
                <a:latin typeface="Arial"/>
                <a:ea typeface="Arial"/>
                <a:cs typeface="Arial"/>
                <a:sym typeface="Arial"/>
              </a:rPr>
              <a:t>BASE DE DATOS</a:t>
            </a:r>
            <a:endParaRPr/>
          </a:p>
        </p:txBody>
      </p:sp>
      <p:pic>
        <p:nvPicPr>
          <p:cNvPr id="273" name="Google Shape;273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6470" y="4467910"/>
            <a:ext cx="2660997" cy="562903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5098"/>
              </a:srgbClr>
            </a:outerShdw>
          </a:effectLst>
        </p:spPr>
      </p:pic>
      <p:pic>
        <p:nvPicPr>
          <p:cNvPr id="274" name="Google Shape;274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6470" y="5133406"/>
            <a:ext cx="2584798" cy="573927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5098"/>
              </a:srgbClr>
            </a:outerShdw>
          </a:effectLst>
        </p:spPr>
      </p:pic>
      <p:pic>
        <p:nvPicPr>
          <p:cNvPr id="275" name="Google Shape;275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46836" y="5776061"/>
            <a:ext cx="2644065" cy="616909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5098"/>
              </a:srgbClr>
            </a:outerShdw>
          </a:effectLst>
        </p:spPr>
      </p:pic>
      <p:pic>
        <p:nvPicPr>
          <p:cNvPr id="276" name="Google Shape;276;p1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575458" y="2355747"/>
            <a:ext cx="6869706" cy="3867651"/>
          </a:xfrm>
          <a:prstGeom prst="rect">
            <a:avLst/>
          </a:prstGeom>
          <a:noFill/>
          <a:ln>
            <a:noFill/>
          </a:ln>
          <a:effectLst>
            <a:outerShdw blurRad="190500" rotWithShape="0" algn="tl">
              <a:srgbClr val="000000">
                <a:alpha val="70196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78" y="0"/>
            <a:ext cx="12185522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15682" y="442542"/>
            <a:ext cx="2005712" cy="12003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12"/>
          <p:cNvPicPr preferRelativeResize="0"/>
          <p:nvPr/>
        </p:nvPicPr>
        <p:blipFill rotWithShape="1">
          <a:blip r:embed="rId5">
            <a:alphaModFix/>
          </a:blip>
          <a:srcRect b="20747" l="0" r="30513" t="23691"/>
          <a:stretch/>
        </p:blipFill>
        <p:spPr>
          <a:xfrm>
            <a:off x="9487615" y="442542"/>
            <a:ext cx="2704385" cy="695693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12"/>
          <p:cNvSpPr txBox="1"/>
          <p:nvPr/>
        </p:nvSpPr>
        <p:spPr>
          <a:xfrm>
            <a:off x="3487726" y="1426102"/>
            <a:ext cx="54150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3700">
                <a:solidFill>
                  <a:srgbClr val="0F4861"/>
                </a:solidFill>
                <a:latin typeface="Arial"/>
                <a:ea typeface="Arial"/>
                <a:cs typeface="Arial"/>
                <a:sym typeface="Arial"/>
              </a:rPr>
              <a:t>VALIDACIÓN SPRINT 1</a:t>
            </a:r>
            <a:endParaRPr sz="1100"/>
          </a:p>
        </p:txBody>
      </p:sp>
      <p:graphicFrame>
        <p:nvGraphicFramePr>
          <p:cNvPr id="285" name="Google Shape;285;p12"/>
          <p:cNvGraphicFramePr/>
          <p:nvPr/>
        </p:nvGraphicFramePr>
        <p:xfrm>
          <a:off x="2032000" y="288559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{D3F9EC2F-0BC0-42C8-9F5B-97D014769288}</a:tableStyleId>
              </a:tblPr>
              <a:tblGrid>
                <a:gridCol w="2709325"/>
                <a:gridCol w="2709325"/>
                <a:gridCol w="27093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u="none" cap="none" strike="noStrike"/>
                        <a:t>HU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u="none" cap="none" strike="noStrike"/>
                        <a:t>Funcionalidad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u="none" cap="none" strike="noStrike"/>
                        <a:t>Estado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 u="none" cap="none" strike="noStrike"/>
                        <a:t>HU Crear 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/>
                        <a:t>Registro sesión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/>
                        <a:t>HU Editar </a:t>
                      </a:r>
                      <a:r>
                        <a:rPr lang="es-CL" sz="1800"/>
                        <a:t>Sesión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/>
                        <a:t>Modificación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/>
                        <a:t>HU Comisión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/>
                        <a:t>Asociación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/>
                        <a:t>HU Tabla Pleno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/>
                        <a:t>Organización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/>
                        <a:t>HU Visualización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800"/>
                        <a:t>Consulta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pic>
        <p:nvPicPr>
          <p:cNvPr id="286" name="Google Shape;286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32190" y="3260992"/>
            <a:ext cx="342477" cy="3360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32189" y="3660461"/>
            <a:ext cx="342477" cy="3360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32189" y="4042996"/>
            <a:ext cx="342477" cy="3360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32189" y="4420018"/>
            <a:ext cx="342477" cy="3360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40655" y="4795125"/>
            <a:ext cx="342477" cy="336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Google Shape;29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78" y="0"/>
            <a:ext cx="12185522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15682" y="442542"/>
            <a:ext cx="2005712" cy="12003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13"/>
          <p:cNvPicPr preferRelativeResize="0"/>
          <p:nvPr/>
        </p:nvPicPr>
        <p:blipFill rotWithShape="1">
          <a:blip r:embed="rId5">
            <a:alphaModFix/>
          </a:blip>
          <a:srcRect b="20747" l="0" r="30513" t="23691"/>
          <a:stretch/>
        </p:blipFill>
        <p:spPr>
          <a:xfrm>
            <a:off x="9487615" y="442542"/>
            <a:ext cx="2704385" cy="695693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13"/>
          <p:cNvSpPr txBox="1"/>
          <p:nvPr/>
        </p:nvSpPr>
        <p:spPr>
          <a:xfrm>
            <a:off x="3646930" y="928226"/>
            <a:ext cx="5415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3400">
                <a:solidFill>
                  <a:srgbClr val="0F4861"/>
                </a:solidFill>
                <a:latin typeface="Arial"/>
                <a:ea typeface="Arial"/>
                <a:cs typeface="Arial"/>
                <a:sym typeface="Arial"/>
              </a:rPr>
              <a:t>VALIDACIÓN SPRINT 1</a:t>
            </a:r>
            <a:endParaRPr sz="800"/>
          </a:p>
        </p:txBody>
      </p:sp>
      <p:sp>
        <p:nvSpPr>
          <p:cNvPr id="299" name="Google Shape;299;p13"/>
          <p:cNvSpPr txBox="1"/>
          <p:nvPr/>
        </p:nvSpPr>
        <p:spPr>
          <a:xfrm>
            <a:off x="4335116" y="1543820"/>
            <a:ext cx="403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4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Flujo funcional Sprint 1</a:t>
            </a:r>
            <a:endParaRPr/>
          </a:p>
        </p:txBody>
      </p:sp>
      <p:pic>
        <p:nvPicPr>
          <p:cNvPr id="300" name="Google Shape;300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84037" y="2162475"/>
            <a:ext cx="6423950" cy="4222249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5098"/>
              </a:srgbClr>
            </a:outerShdw>
          </a:effectLst>
        </p:spPr>
      </p:pic>
      <p:sp>
        <p:nvSpPr>
          <p:cNvPr id="301" name="Google Shape;301;p13"/>
          <p:cNvSpPr/>
          <p:nvPr/>
        </p:nvSpPr>
        <p:spPr>
          <a:xfrm>
            <a:off x="2884017" y="2417958"/>
            <a:ext cx="643500" cy="1692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9" y="0"/>
            <a:ext cx="12185522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15682" y="442542"/>
            <a:ext cx="2005712" cy="12003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14"/>
          <p:cNvPicPr preferRelativeResize="0"/>
          <p:nvPr/>
        </p:nvPicPr>
        <p:blipFill rotWithShape="1">
          <a:blip r:embed="rId5">
            <a:alphaModFix/>
          </a:blip>
          <a:srcRect b="20747" l="0" r="30513" t="23691"/>
          <a:stretch/>
        </p:blipFill>
        <p:spPr>
          <a:xfrm>
            <a:off x="9487615" y="442542"/>
            <a:ext cx="2704385" cy="695693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14"/>
          <p:cNvSpPr txBox="1"/>
          <p:nvPr/>
        </p:nvSpPr>
        <p:spPr>
          <a:xfrm>
            <a:off x="1151466" y="1721359"/>
            <a:ext cx="7571403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3200">
                <a:solidFill>
                  <a:srgbClr val="0F4861"/>
                </a:solidFill>
                <a:latin typeface="Arial"/>
                <a:ea typeface="Arial"/>
                <a:cs typeface="Arial"/>
                <a:sym typeface="Arial"/>
              </a:rPr>
              <a:t>CONCLUSIONES Y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3200">
                <a:solidFill>
                  <a:srgbClr val="0F4861"/>
                </a:solidFill>
                <a:latin typeface="Arial"/>
                <a:ea typeface="Arial"/>
                <a:cs typeface="Arial"/>
                <a:sym typeface="Arial"/>
              </a:rPr>
              <a:t>PRÓXIMOS PASOS</a:t>
            </a:r>
            <a:endParaRPr/>
          </a:p>
        </p:txBody>
      </p:sp>
      <p:sp>
        <p:nvSpPr>
          <p:cNvPr id="310" name="Google Shape;310;p14"/>
          <p:cNvSpPr txBox="1"/>
          <p:nvPr/>
        </p:nvSpPr>
        <p:spPr>
          <a:xfrm>
            <a:off x="1215668" y="3116333"/>
            <a:ext cx="3690600" cy="28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0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Sprint 1 permitió consolidar la base funcional del módulo Pleno, manteniendo compatibilidad con COREGEDOC y habilitando futuras etapas asociadas a votación, automatización documental e integración institucional.</a:t>
            </a:r>
            <a:endParaRPr/>
          </a:p>
        </p:txBody>
      </p:sp>
      <p:pic>
        <p:nvPicPr>
          <p:cNvPr id="311" name="Google Shape;311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70822" y="1354667"/>
            <a:ext cx="5096307" cy="4882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2026-05-19T02:52:27Z</dcterms:created>
  <dc:creator>Servicio Profesional</dc:creator>
</cp:coreProperties>
</file>