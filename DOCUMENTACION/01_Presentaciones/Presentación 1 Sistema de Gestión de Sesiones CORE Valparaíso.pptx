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8229600" cx="14630400"/>
  <p:notesSz cx="8229600" cy="14630400"/>
  <p:embeddedFontLst>
    <p:embeddedFont>
      <p:font typeface="Inter"/>
      <p:regular r:id="rId13"/>
      <p:bold r:id="rId14"/>
      <p:italic r:id="rId15"/>
      <p:boldItalic r:id="rId16"/>
    </p:embeddedFont>
    <p:embeddedFont>
      <p:font typeface="Petrona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etrona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Inter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Inter-italic.fntdata"/><Relationship Id="rId14" Type="http://schemas.openxmlformats.org/officeDocument/2006/relationships/font" Target="fonts/Inter-bold.fntdata"/><Relationship Id="rId17" Type="http://schemas.openxmlformats.org/officeDocument/2006/relationships/font" Target="fonts/Petrona-regular.fntdata"/><Relationship Id="rId16" Type="http://schemas.openxmlformats.org/officeDocument/2006/relationships/font" Target="fonts/Inter-boldItalic.fntdata"/><Relationship Id="rId5" Type="http://schemas.openxmlformats.org/officeDocument/2006/relationships/slide" Target="slides/slide1.xml"/><Relationship Id="rId19" Type="http://schemas.openxmlformats.org/officeDocument/2006/relationships/font" Target="fonts/Petrona-italic.fntdata"/><Relationship Id="rId6" Type="http://schemas.openxmlformats.org/officeDocument/2006/relationships/slide" Target="slides/slide2.xml"/><Relationship Id="rId18" Type="http://schemas.openxmlformats.org/officeDocument/2006/relationships/font" Target="fonts/Petrona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Relationship Id="rId6" Type="http://schemas.openxmlformats.org/officeDocument/2006/relationships/image" Target="../media/image10.png"/><Relationship Id="rId7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23.png"/><Relationship Id="rId6" Type="http://schemas.openxmlformats.org/officeDocument/2006/relationships/image" Target="../media/image28.png"/><Relationship Id="rId7" Type="http://schemas.openxmlformats.org/officeDocument/2006/relationships/image" Target="../media/image18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4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39.png"/><Relationship Id="rId5" Type="http://schemas.openxmlformats.org/officeDocument/2006/relationships/image" Target="../media/image19.png"/><Relationship Id="rId6" Type="http://schemas.openxmlformats.org/officeDocument/2006/relationships/image" Target="../media/image27.png"/><Relationship Id="rId7" Type="http://schemas.openxmlformats.org/officeDocument/2006/relationships/image" Target="../media/image22.png"/><Relationship Id="rId8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34.png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" name="Google Shape;4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9" y="423051"/>
            <a:ext cx="3520526" cy="87995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1"/>
          <p:cNvSpPr/>
          <p:nvPr/>
        </p:nvSpPr>
        <p:spPr>
          <a:xfrm>
            <a:off x="3072051" y="1911310"/>
            <a:ext cx="528566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50" name="Google Shape;50;p11"/>
          <p:cNvSpPr/>
          <p:nvPr/>
        </p:nvSpPr>
        <p:spPr>
          <a:xfrm>
            <a:off x="793798" y="2034425"/>
            <a:ext cx="5991300" cy="14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50"/>
              <a:buFont typeface="Petrona"/>
              <a:buNone/>
            </a:pPr>
            <a:r>
              <a:rPr b="1" i="0" lang="en-US" sz="46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Sistema de Gestión de Sesiones CORE Valparaíso</a:t>
            </a:r>
            <a:endParaRPr b="0" i="0" sz="4650" u="none" cap="none" strike="noStrike"/>
          </a:p>
        </p:txBody>
      </p:sp>
      <p:sp>
        <p:nvSpPr>
          <p:cNvPr id="51" name="Google Shape;51;p11"/>
          <p:cNvSpPr/>
          <p:nvPr/>
        </p:nvSpPr>
        <p:spPr>
          <a:xfrm>
            <a:off x="793797" y="4815600"/>
            <a:ext cx="55911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Optimización del registro de votaciones y actas del Consejo Regional mediante integración de firma electrónica y generación automática de documentos.</a:t>
            </a:r>
            <a:endParaRPr b="0" i="0" sz="1750" u="none" cap="none" strike="noStrike"/>
          </a:p>
        </p:txBody>
      </p:sp>
      <p:sp>
        <p:nvSpPr>
          <p:cNvPr id="52" name="Google Shape;52;p11"/>
          <p:cNvSpPr/>
          <p:nvPr/>
        </p:nvSpPr>
        <p:spPr>
          <a:xfrm>
            <a:off x="793790" y="6159460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id="53" name="Google Shape;53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20901" y="393400"/>
            <a:ext cx="7442800" cy="744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/>
          <p:nvPr/>
        </p:nvSpPr>
        <p:spPr>
          <a:xfrm>
            <a:off x="793790" y="2083237"/>
            <a:ext cx="6201370" cy="74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50"/>
              <a:buFont typeface="Petrona"/>
              <a:buNone/>
            </a:pPr>
            <a:r>
              <a:rPr b="1" i="0" lang="en-US" sz="46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Integrantes del Equipo</a:t>
            </a:r>
            <a:endParaRPr b="0" i="0" sz="4650" u="none" cap="none" strike="noStrike"/>
          </a:p>
        </p:txBody>
      </p:sp>
      <p:sp>
        <p:nvSpPr>
          <p:cNvPr id="60" name="Google Shape;60;p12"/>
          <p:cNvSpPr/>
          <p:nvPr/>
        </p:nvSpPr>
        <p:spPr>
          <a:xfrm>
            <a:off x="793790" y="3281124"/>
            <a:ext cx="4196358" cy="2247186"/>
          </a:xfrm>
          <a:prstGeom prst="roundRect">
            <a:avLst>
              <a:gd fmla="val 4239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2"/>
          <p:cNvSpPr/>
          <p:nvPr/>
        </p:nvSpPr>
        <p:spPr>
          <a:xfrm>
            <a:off x="1028224" y="3515558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5390" y="3702606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2"/>
          <p:cNvSpPr/>
          <p:nvPr/>
        </p:nvSpPr>
        <p:spPr>
          <a:xfrm>
            <a:off x="1028224" y="4422815"/>
            <a:ext cx="2977039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Evelyn Parra Pino</a:t>
            </a:r>
            <a:endParaRPr b="0" i="0" sz="2300" u="none" cap="none" strike="noStrike"/>
          </a:p>
        </p:txBody>
      </p:sp>
      <p:sp>
        <p:nvSpPr>
          <p:cNvPr id="64" name="Google Shape;64;p12"/>
          <p:cNvSpPr/>
          <p:nvPr/>
        </p:nvSpPr>
        <p:spPr>
          <a:xfrm>
            <a:off x="1028224" y="4930973"/>
            <a:ext cx="372749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Scrum Master y Developer</a:t>
            </a:r>
            <a:endParaRPr b="0" i="0" sz="1750" u="none" cap="none" strike="noStrike"/>
          </a:p>
        </p:txBody>
      </p:sp>
      <p:sp>
        <p:nvSpPr>
          <p:cNvPr id="65" name="Google Shape;65;p12"/>
          <p:cNvSpPr/>
          <p:nvPr/>
        </p:nvSpPr>
        <p:spPr>
          <a:xfrm>
            <a:off x="5216962" y="3281124"/>
            <a:ext cx="4196358" cy="2247186"/>
          </a:xfrm>
          <a:prstGeom prst="roundRect">
            <a:avLst>
              <a:gd fmla="val 4239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2"/>
          <p:cNvSpPr/>
          <p:nvPr/>
        </p:nvSpPr>
        <p:spPr>
          <a:xfrm>
            <a:off x="5451396" y="3515558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38562" y="3702606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2"/>
          <p:cNvSpPr/>
          <p:nvPr/>
        </p:nvSpPr>
        <p:spPr>
          <a:xfrm>
            <a:off x="5451396" y="4422815"/>
            <a:ext cx="3138488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Marianella Ciacciarelli</a:t>
            </a:r>
            <a:endParaRPr b="0" i="0" sz="2300" u="none" cap="none" strike="noStrike"/>
          </a:p>
        </p:txBody>
      </p:sp>
      <p:sp>
        <p:nvSpPr>
          <p:cNvPr id="69" name="Google Shape;69;p12"/>
          <p:cNvSpPr/>
          <p:nvPr/>
        </p:nvSpPr>
        <p:spPr>
          <a:xfrm>
            <a:off x="5451396" y="4930973"/>
            <a:ext cx="372749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Developer</a:t>
            </a:r>
            <a:endParaRPr b="0" i="0" sz="1750" u="none" cap="none" strike="noStrike"/>
          </a:p>
        </p:txBody>
      </p:sp>
      <p:sp>
        <p:nvSpPr>
          <p:cNvPr id="70" name="Google Shape;70;p12"/>
          <p:cNvSpPr/>
          <p:nvPr/>
        </p:nvSpPr>
        <p:spPr>
          <a:xfrm>
            <a:off x="9640133" y="3281124"/>
            <a:ext cx="4196358" cy="2247186"/>
          </a:xfrm>
          <a:prstGeom prst="roundRect">
            <a:avLst>
              <a:gd fmla="val 4239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2"/>
          <p:cNvSpPr/>
          <p:nvPr/>
        </p:nvSpPr>
        <p:spPr>
          <a:xfrm>
            <a:off x="9874568" y="3515558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61734" y="3702606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2"/>
          <p:cNvSpPr/>
          <p:nvPr/>
        </p:nvSpPr>
        <p:spPr>
          <a:xfrm>
            <a:off x="9874568" y="4422815"/>
            <a:ext cx="2977039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Kiara Gatica</a:t>
            </a:r>
            <a:endParaRPr b="0" i="0" sz="2300" u="none" cap="none" strike="noStrike"/>
          </a:p>
        </p:txBody>
      </p:sp>
      <p:sp>
        <p:nvSpPr>
          <p:cNvPr id="74" name="Google Shape;74;p12"/>
          <p:cNvSpPr/>
          <p:nvPr/>
        </p:nvSpPr>
        <p:spPr>
          <a:xfrm>
            <a:off x="9874568" y="4930973"/>
            <a:ext cx="372749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Developer</a:t>
            </a:r>
            <a:endParaRPr b="0" i="0" sz="1750" u="none" cap="none" strike="noStrike"/>
          </a:p>
        </p:txBody>
      </p:sp>
      <p:sp>
        <p:nvSpPr>
          <p:cNvPr id="75" name="Google Shape;75;p12"/>
          <p:cNvSpPr/>
          <p:nvPr/>
        </p:nvSpPr>
        <p:spPr>
          <a:xfrm>
            <a:off x="793790" y="5783461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2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Asignatura: Taller Aplicado de Programación </a:t>
            </a:r>
            <a:endParaRPr b="0" i="0" sz="2450" u="none" cap="none" strike="noStrike"/>
          </a:p>
        </p:txBody>
      </p:sp>
      <p:pic>
        <p:nvPicPr>
          <p:cNvPr descr="preencoded.png" id="76" name="Google Shape;76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74578" y="1240048"/>
            <a:ext cx="2752775" cy="68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3259693" y="645676"/>
            <a:ext cx="3195161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etrona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Contexto Institucional</a:t>
            </a:r>
            <a:endParaRPr b="0" i="0" sz="2400" u="none" cap="none" strike="noStrike"/>
          </a:p>
        </p:txBody>
      </p:sp>
      <p:sp>
        <p:nvSpPr>
          <p:cNvPr id="83" name="Google Shape;83;p13"/>
          <p:cNvSpPr/>
          <p:nvPr/>
        </p:nvSpPr>
        <p:spPr>
          <a:xfrm>
            <a:off x="3259693" y="1153239"/>
            <a:ext cx="4025027" cy="3062526"/>
          </a:xfrm>
          <a:prstGeom prst="roundRect">
            <a:avLst>
              <a:gd fmla="val 2389" name="adj"/>
            </a:avLst>
          </a:prstGeom>
          <a:solidFill>
            <a:srgbClr val="FFFFFF">
              <a:alpha val="94901"/>
            </a:srgbClr>
          </a:solidFill>
          <a:ln cap="flat" cmpd="sng" w="152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3"/>
          <p:cNvSpPr/>
          <p:nvPr/>
        </p:nvSpPr>
        <p:spPr>
          <a:xfrm>
            <a:off x="3244453" y="1153239"/>
            <a:ext cx="60960" cy="3062526"/>
          </a:xfrm>
          <a:prstGeom prst="roundRect">
            <a:avLst>
              <a:gd fmla="val 80989" name="adj"/>
            </a:avLst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3438168" y="1285994"/>
            <a:ext cx="2214205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0"/>
              <a:buFont typeface="Petrona"/>
              <a:buNone/>
            </a:pPr>
            <a:r>
              <a:rPr b="1" i="0" lang="en-US" sz="12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Consejo Regional de Valparaíso</a:t>
            </a:r>
            <a:endParaRPr b="0" i="0" sz="1200" u="none" cap="none" strike="noStrike"/>
          </a:p>
        </p:txBody>
      </p:sp>
      <p:pic>
        <p:nvPicPr>
          <p:cNvPr descr="preencoded.png" id="86" name="Google Shape;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38168" y="1547336"/>
            <a:ext cx="3713798" cy="189666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/>
          <p:nvPr/>
        </p:nvSpPr>
        <p:spPr>
          <a:xfrm>
            <a:off x="3438168" y="3512463"/>
            <a:ext cx="3713798" cy="570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El Consejo Regional de Valparaíso está compuesto por 28 consejeros, quienes toman decisiones clave sobre el presupuesto regional, la continuidad de programas y la aprobación de proyectos de interés público.</a:t>
            </a:r>
            <a:endParaRPr b="0" i="0" sz="900" u="none" cap="none" strike="noStrike"/>
          </a:p>
        </p:txBody>
      </p:sp>
      <p:sp>
        <p:nvSpPr>
          <p:cNvPr id="88" name="Google Shape;88;p13"/>
          <p:cNvSpPr/>
          <p:nvPr/>
        </p:nvSpPr>
        <p:spPr>
          <a:xfrm>
            <a:off x="7345561" y="1153239"/>
            <a:ext cx="4025027" cy="3062526"/>
          </a:xfrm>
          <a:prstGeom prst="roundRect">
            <a:avLst>
              <a:gd fmla="val 2389" name="adj"/>
            </a:avLst>
          </a:prstGeom>
          <a:solidFill>
            <a:srgbClr val="FFFFFF">
              <a:alpha val="94901"/>
            </a:srgbClr>
          </a:solidFill>
          <a:ln cap="flat" cmpd="sng" w="152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7330321" y="1153239"/>
            <a:ext cx="60960" cy="3062526"/>
          </a:xfrm>
          <a:prstGeom prst="roundRect">
            <a:avLst>
              <a:gd fmla="val 80989" name="adj"/>
            </a:avLst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7524036" y="1285994"/>
            <a:ext cx="1597700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0"/>
              <a:buFont typeface="Petrona"/>
              <a:buNone/>
            </a:pPr>
            <a:r>
              <a:rPr b="1" i="0" lang="en-US" sz="12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Sesiones y Comisiones</a:t>
            </a:r>
            <a:endParaRPr b="0" i="0" sz="1200" u="none" cap="none" strike="noStrike"/>
          </a:p>
        </p:txBody>
      </p:sp>
      <p:pic>
        <p:nvPicPr>
          <p:cNvPr descr="preencoded.png" id="91" name="Google Shape;9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036" y="1547336"/>
            <a:ext cx="2397323" cy="166913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/>
          <p:nvPr/>
        </p:nvSpPr>
        <p:spPr>
          <a:xfrm>
            <a:off x="7524036" y="3284934"/>
            <a:ext cx="3713798" cy="570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El trabajo del Consejo se organiza en sesiones ordinarias y extraordinarias, donde se aprueban acuerdos.</a:t>
            </a:r>
            <a:endParaRPr b="0" i="0" sz="900" u="none" cap="none" strike="noStrike"/>
          </a:p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Además, las comisiones técnicas analizan previamente los temas, facilitando una toma de decisiones más informada.</a:t>
            </a:r>
            <a:endParaRPr b="0" i="0" sz="900" u="none" cap="none" strike="noStrike"/>
          </a:p>
        </p:txBody>
      </p:sp>
      <p:sp>
        <p:nvSpPr>
          <p:cNvPr id="93" name="Google Shape;93;p13"/>
          <p:cNvSpPr/>
          <p:nvPr/>
        </p:nvSpPr>
        <p:spPr>
          <a:xfrm>
            <a:off x="3259693" y="4276606"/>
            <a:ext cx="4025027" cy="3307199"/>
          </a:xfrm>
          <a:prstGeom prst="roundRect">
            <a:avLst>
              <a:gd fmla="val 2212" name="adj"/>
            </a:avLst>
          </a:prstGeom>
          <a:solidFill>
            <a:srgbClr val="FFFFFF">
              <a:alpha val="94901"/>
            </a:srgbClr>
          </a:solidFill>
          <a:ln cap="flat" cmpd="sng" w="152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3244453" y="4276606"/>
            <a:ext cx="60960" cy="3307199"/>
          </a:xfrm>
          <a:prstGeom prst="roundRect">
            <a:avLst>
              <a:gd fmla="val 80989" name="adj"/>
            </a:avLst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3438168" y="4409361"/>
            <a:ext cx="1542812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0"/>
              <a:buFont typeface="Petrona"/>
              <a:buNone/>
            </a:pPr>
            <a:r>
              <a:rPr b="1" i="0" lang="en-US" sz="12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Actas Oficiales</a:t>
            </a:r>
            <a:endParaRPr b="0" i="0" sz="1200" u="none" cap="none" strike="noStrike"/>
          </a:p>
        </p:txBody>
      </p:sp>
      <p:sp>
        <p:nvSpPr>
          <p:cNvPr id="96" name="Google Shape;96;p13"/>
          <p:cNvSpPr/>
          <p:nvPr/>
        </p:nvSpPr>
        <p:spPr>
          <a:xfrm>
            <a:off x="3438168" y="4638675"/>
            <a:ext cx="3713798" cy="570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Las actas oficiales registran la asistencia, los temas tratados y los acuerdos adoptados.</a:t>
            </a:r>
            <a:endParaRPr b="0" i="0" sz="900" u="none" cap="none" strike="noStrike"/>
          </a:p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También incluyen el detalle de las votaciones individuales (Sí, No o Abstención).</a:t>
            </a:r>
            <a:endParaRPr b="0" i="0" sz="900" u="none" cap="none" strike="noStrike"/>
          </a:p>
        </p:txBody>
      </p:sp>
      <p:pic>
        <p:nvPicPr>
          <p:cNvPr descr="preencoded.png" id="97" name="Google Shape;9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38168" y="5277683"/>
            <a:ext cx="3713799" cy="196226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/>
          <p:nvPr/>
        </p:nvSpPr>
        <p:spPr>
          <a:xfrm>
            <a:off x="3438168" y="7308413"/>
            <a:ext cx="3713798" cy="142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None/>
            </a:pPr>
            <a:r>
              <a:t/>
            </a:r>
            <a:endParaRPr b="0" i="0" sz="900" u="none" cap="none" strike="noStrike"/>
          </a:p>
        </p:txBody>
      </p:sp>
      <p:sp>
        <p:nvSpPr>
          <p:cNvPr id="99" name="Google Shape;99;p13"/>
          <p:cNvSpPr/>
          <p:nvPr/>
        </p:nvSpPr>
        <p:spPr>
          <a:xfrm>
            <a:off x="7345561" y="4276606"/>
            <a:ext cx="4025100" cy="3307200"/>
          </a:xfrm>
          <a:prstGeom prst="roundRect">
            <a:avLst>
              <a:gd fmla="val 2212" name="adj"/>
            </a:avLst>
          </a:prstGeom>
          <a:solidFill>
            <a:srgbClr val="FFFFFF">
              <a:alpha val="94901"/>
            </a:srgbClr>
          </a:solidFill>
          <a:ln cap="flat" cmpd="sng" w="152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3"/>
          <p:cNvSpPr/>
          <p:nvPr/>
        </p:nvSpPr>
        <p:spPr>
          <a:xfrm>
            <a:off x="7330321" y="4276606"/>
            <a:ext cx="60960" cy="3307199"/>
          </a:xfrm>
          <a:prstGeom prst="roundRect">
            <a:avLst>
              <a:gd fmla="val 80989" name="adj"/>
            </a:avLst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3"/>
          <p:cNvSpPr/>
          <p:nvPr/>
        </p:nvSpPr>
        <p:spPr>
          <a:xfrm>
            <a:off x="7524036" y="4409361"/>
            <a:ext cx="1542812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0"/>
              <a:buFont typeface="Petrona"/>
              <a:buNone/>
            </a:pPr>
            <a:r>
              <a:rPr b="1" i="0" lang="en-US" sz="12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Ejemplo Comisiones</a:t>
            </a:r>
            <a:endParaRPr b="0" i="0" sz="1200" u="none" cap="none" strike="noStrike"/>
          </a:p>
        </p:txBody>
      </p:sp>
      <p:pic>
        <p:nvPicPr>
          <p:cNvPr descr="preencoded.png" id="102" name="Google Shape;102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4036" y="4670703"/>
            <a:ext cx="2637234" cy="162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3"/>
          <p:cNvSpPr/>
          <p:nvPr/>
        </p:nvSpPr>
        <p:spPr>
          <a:xfrm>
            <a:off x="7524036" y="6366153"/>
            <a:ext cx="3713798" cy="285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Las comisiones abordan distintas áreas, donde se analizan los temas antes de ser presentados en el pleno para su aprobación.</a:t>
            </a:r>
            <a:endParaRPr b="0" i="0" sz="900" u="none" cap="none" strike="noStrike"/>
          </a:p>
        </p:txBody>
      </p:sp>
      <p:pic>
        <p:nvPicPr>
          <p:cNvPr descr="preencoded.png" id="104" name="Google Shape;104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2351" y="1703549"/>
            <a:ext cx="1976025" cy="49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0" name="Google Shape;11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/>
          <p:nvPr/>
        </p:nvSpPr>
        <p:spPr>
          <a:xfrm>
            <a:off x="793790" y="748308"/>
            <a:ext cx="6804422" cy="74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50"/>
              <a:buFont typeface="Petrona"/>
              <a:buNone/>
            </a:pPr>
            <a:r>
              <a:rPr b="1" i="0" lang="en-US" sz="46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Problemática y Objetivos</a:t>
            </a:r>
            <a:endParaRPr b="0" i="0" sz="4650" u="none" cap="none" strike="noStrike"/>
          </a:p>
        </p:txBody>
      </p:sp>
      <p:sp>
        <p:nvSpPr>
          <p:cNvPr id="112" name="Google Shape;112;p14"/>
          <p:cNvSpPr/>
          <p:nvPr/>
        </p:nvSpPr>
        <p:spPr>
          <a:xfrm>
            <a:off x="793790" y="1583293"/>
            <a:ext cx="3570446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Problemática Identificada</a:t>
            </a:r>
            <a:endParaRPr b="0" i="0" sz="2300" u="none" cap="none" strike="noStrike"/>
          </a:p>
        </p:txBody>
      </p:sp>
      <p:sp>
        <p:nvSpPr>
          <p:cNvPr id="113" name="Google Shape;113;p14"/>
          <p:cNvSpPr/>
          <p:nvPr/>
        </p:nvSpPr>
        <p:spPr>
          <a:xfrm>
            <a:off x="793790" y="2635687"/>
            <a:ext cx="3664744" cy="4845606"/>
          </a:xfrm>
          <a:prstGeom prst="roundRect">
            <a:avLst>
              <a:gd fmla="val 3992" name="adj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793790" y="2605207"/>
            <a:ext cx="3664744" cy="121920"/>
          </a:xfrm>
          <a:prstGeom prst="roundRect">
            <a:avLst>
              <a:gd fmla="val 78139" name="adj"/>
            </a:avLst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2285940" y="2295525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2490014" y="2465665"/>
            <a:ext cx="272177" cy="340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etron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1</a:t>
            </a:r>
            <a:endParaRPr b="0" i="0" sz="2100" u="none" cap="none" strike="noStrike"/>
          </a:p>
        </p:txBody>
      </p:sp>
      <p:sp>
        <p:nvSpPr>
          <p:cNvPr id="117" name="Google Shape;117;p14"/>
          <p:cNvSpPr/>
          <p:nvPr/>
        </p:nvSpPr>
        <p:spPr>
          <a:xfrm>
            <a:off x="1051084" y="3202662"/>
            <a:ext cx="3150156" cy="744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Problemática identificada</a:t>
            </a:r>
            <a:endParaRPr b="0" i="0" sz="2300" u="none" cap="none" strike="noStrike"/>
          </a:p>
        </p:txBody>
      </p:sp>
      <p:sp>
        <p:nvSpPr>
          <p:cNvPr id="118" name="Google Shape;118;p14"/>
          <p:cNvSpPr/>
          <p:nvPr/>
        </p:nvSpPr>
        <p:spPr>
          <a:xfrm>
            <a:off x="1051084" y="4082891"/>
            <a:ext cx="3150156" cy="31411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Procesos manuales en votaciones y actas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Demoras en gestión de información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Falta de trazabilidad completa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Riesgos de errores en registros</a:t>
            </a:r>
            <a:endParaRPr b="0" i="0" sz="1750" u="none" cap="none" strike="noStrike"/>
          </a:p>
        </p:txBody>
      </p:sp>
      <p:sp>
        <p:nvSpPr>
          <p:cNvPr id="119" name="Google Shape;119;p14"/>
          <p:cNvSpPr/>
          <p:nvPr/>
        </p:nvSpPr>
        <p:spPr>
          <a:xfrm>
            <a:off x="4685348" y="2635687"/>
            <a:ext cx="3664863" cy="4845606"/>
          </a:xfrm>
          <a:prstGeom prst="roundRect">
            <a:avLst>
              <a:gd fmla="val 3992" name="adj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4"/>
          <p:cNvSpPr/>
          <p:nvPr/>
        </p:nvSpPr>
        <p:spPr>
          <a:xfrm>
            <a:off x="4685348" y="2605207"/>
            <a:ext cx="3664863" cy="121920"/>
          </a:xfrm>
          <a:prstGeom prst="roundRect">
            <a:avLst>
              <a:gd fmla="val 78139" name="adj"/>
            </a:avLst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6177498" y="2295525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007E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4"/>
          <p:cNvSpPr/>
          <p:nvPr/>
        </p:nvSpPr>
        <p:spPr>
          <a:xfrm>
            <a:off x="6381571" y="2465665"/>
            <a:ext cx="272177" cy="340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etron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2</a:t>
            </a:r>
            <a:endParaRPr b="0" i="0" sz="2100" u="none" cap="none" strike="noStrike"/>
          </a:p>
        </p:txBody>
      </p:sp>
      <p:sp>
        <p:nvSpPr>
          <p:cNvPr id="123" name="Google Shape;123;p14"/>
          <p:cNvSpPr/>
          <p:nvPr/>
        </p:nvSpPr>
        <p:spPr>
          <a:xfrm>
            <a:off x="5029200" y="3202662"/>
            <a:ext cx="2977039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Objetivos Específicos</a:t>
            </a:r>
            <a:endParaRPr b="0" i="0" sz="2300" u="none" cap="none" strike="noStrike"/>
          </a:p>
        </p:txBody>
      </p:sp>
      <p:sp>
        <p:nvSpPr>
          <p:cNvPr id="124" name="Google Shape;124;p14"/>
          <p:cNvSpPr/>
          <p:nvPr/>
        </p:nvSpPr>
        <p:spPr>
          <a:xfrm>
            <a:off x="4942642" y="3710821"/>
            <a:ext cx="3150275" cy="31411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Optimizar 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registro de votaciones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Generar actas automáticamente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Integrar FirmaGob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Implementar notificaciones automáticas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793790" y="666988"/>
            <a:ext cx="5954197" cy="74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50"/>
              <a:buFont typeface="Petrona"/>
              <a:buNone/>
            </a:pPr>
            <a:r>
              <a:rPr b="1" i="0" lang="en-US" sz="46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Metodología Scrum</a:t>
            </a:r>
            <a:endParaRPr b="0" i="0" sz="4650" u="none" cap="none" strike="noStrike"/>
          </a:p>
        </p:txBody>
      </p:sp>
      <p:sp>
        <p:nvSpPr>
          <p:cNvPr id="131" name="Google Shape;131;p15"/>
          <p:cNvSpPr/>
          <p:nvPr/>
        </p:nvSpPr>
        <p:spPr>
          <a:xfrm>
            <a:off x="793790" y="4006096"/>
            <a:ext cx="13042821" cy="30480"/>
          </a:xfrm>
          <a:prstGeom prst="roundRect">
            <a:avLst>
              <a:gd fmla="val 312558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3301960" y="3325654"/>
            <a:ext cx="30480" cy="680442"/>
          </a:xfrm>
          <a:prstGeom prst="roundRect">
            <a:avLst>
              <a:gd fmla="val 312558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3062049" y="3750945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3138607" y="3782854"/>
            <a:ext cx="357188" cy="446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800"/>
              <a:buFont typeface="Petrona"/>
              <a:buNone/>
            </a:pPr>
            <a:r>
              <a:rPr b="1" i="0" lang="en-US" sz="28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1</a:t>
            </a:r>
            <a:endParaRPr b="0" i="0" sz="2800" u="none" cap="none" strike="noStrike"/>
          </a:p>
        </p:txBody>
      </p:sp>
      <p:sp>
        <p:nvSpPr>
          <p:cNvPr id="135" name="Google Shape;135;p15"/>
          <p:cNvSpPr/>
          <p:nvPr/>
        </p:nvSpPr>
        <p:spPr>
          <a:xfrm>
            <a:off x="1828681" y="1864876"/>
            <a:ext cx="2977039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Semanas 1-4</a:t>
            </a:r>
            <a:endParaRPr b="0" i="0" sz="2300" u="none" cap="none" strike="noStrike"/>
          </a:p>
        </p:txBody>
      </p:sp>
      <p:sp>
        <p:nvSpPr>
          <p:cNvPr id="136" name="Google Shape;136;p15"/>
          <p:cNvSpPr/>
          <p:nvPr/>
        </p:nvSpPr>
        <p:spPr>
          <a:xfrm>
            <a:off x="1020604" y="2373035"/>
            <a:ext cx="459331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Definición, levantamiento de información y diseño (MER, Arquitectura)</a:t>
            </a:r>
            <a:endParaRPr b="0" i="0" sz="1750" u="none" cap="none" strike="noStrike"/>
          </a:p>
        </p:txBody>
      </p:sp>
      <p:sp>
        <p:nvSpPr>
          <p:cNvPr id="137" name="Google Shape;137;p15"/>
          <p:cNvSpPr/>
          <p:nvPr/>
        </p:nvSpPr>
        <p:spPr>
          <a:xfrm>
            <a:off x="5967293" y="4006096"/>
            <a:ext cx="30480" cy="680442"/>
          </a:xfrm>
          <a:prstGeom prst="roundRect">
            <a:avLst>
              <a:gd fmla="val 312558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5727382" y="3750945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5803940" y="3782854"/>
            <a:ext cx="357188" cy="446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800"/>
              <a:buFont typeface="Petrona"/>
              <a:buNone/>
            </a:pPr>
            <a:r>
              <a:rPr b="1" i="0" lang="en-US" sz="28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2</a:t>
            </a:r>
            <a:endParaRPr b="0" i="0" sz="2800" u="none" cap="none" strike="noStrike"/>
          </a:p>
        </p:txBody>
      </p:sp>
      <p:sp>
        <p:nvSpPr>
          <p:cNvPr id="140" name="Google Shape;140;p15"/>
          <p:cNvSpPr/>
          <p:nvPr/>
        </p:nvSpPr>
        <p:spPr>
          <a:xfrm>
            <a:off x="4494014" y="4913352"/>
            <a:ext cx="2977039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Semanas 5-12</a:t>
            </a:r>
            <a:endParaRPr b="0" i="0" sz="2300" u="none" cap="none" strike="noStrike"/>
          </a:p>
        </p:txBody>
      </p:sp>
      <p:sp>
        <p:nvSpPr>
          <p:cNvPr id="141" name="Google Shape;141;p15"/>
          <p:cNvSpPr/>
          <p:nvPr/>
        </p:nvSpPr>
        <p:spPr>
          <a:xfrm>
            <a:off x="3685818" y="5421511"/>
            <a:ext cx="459343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Desarrollo backend/frontend e integración de APIs</a:t>
            </a:r>
            <a:endParaRPr b="0" i="0" sz="1750" u="none" cap="none" strike="noStrike"/>
          </a:p>
        </p:txBody>
      </p:sp>
      <p:sp>
        <p:nvSpPr>
          <p:cNvPr id="142" name="Google Shape;142;p15"/>
          <p:cNvSpPr/>
          <p:nvPr/>
        </p:nvSpPr>
        <p:spPr>
          <a:xfrm>
            <a:off x="8632508" y="3325654"/>
            <a:ext cx="30480" cy="680442"/>
          </a:xfrm>
          <a:prstGeom prst="roundRect">
            <a:avLst>
              <a:gd fmla="val 312558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5"/>
          <p:cNvSpPr/>
          <p:nvPr/>
        </p:nvSpPr>
        <p:spPr>
          <a:xfrm>
            <a:off x="8392597" y="3750945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5"/>
          <p:cNvSpPr/>
          <p:nvPr/>
        </p:nvSpPr>
        <p:spPr>
          <a:xfrm>
            <a:off x="8469154" y="3782854"/>
            <a:ext cx="357188" cy="446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800"/>
              <a:buFont typeface="Petrona"/>
              <a:buNone/>
            </a:pPr>
            <a:r>
              <a:rPr b="1" i="0" lang="en-US" sz="28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3</a:t>
            </a:r>
            <a:endParaRPr b="0" i="0" sz="2800" u="none" cap="none" strike="noStrike"/>
          </a:p>
        </p:txBody>
      </p:sp>
      <p:sp>
        <p:nvSpPr>
          <p:cNvPr id="145" name="Google Shape;145;p15"/>
          <p:cNvSpPr/>
          <p:nvPr/>
        </p:nvSpPr>
        <p:spPr>
          <a:xfrm>
            <a:off x="7159228" y="1864876"/>
            <a:ext cx="2977039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Semanas 13-16</a:t>
            </a:r>
            <a:endParaRPr b="0" i="0" sz="2300" u="none" cap="none" strike="noStrike"/>
          </a:p>
        </p:txBody>
      </p:sp>
      <p:sp>
        <p:nvSpPr>
          <p:cNvPr id="146" name="Google Shape;146;p15"/>
          <p:cNvSpPr/>
          <p:nvPr/>
        </p:nvSpPr>
        <p:spPr>
          <a:xfrm>
            <a:off x="6351032" y="2373035"/>
            <a:ext cx="459343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Testing y ajustes</a:t>
            </a:r>
            <a:endParaRPr b="0" i="0" sz="1750" u="none" cap="none" strike="noStrike"/>
          </a:p>
        </p:txBody>
      </p:sp>
      <p:sp>
        <p:nvSpPr>
          <p:cNvPr id="147" name="Google Shape;147;p15"/>
          <p:cNvSpPr/>
          <p:nvPr/>
        </p:nvSpPr>
        <p:spPr>
          <a:xfrm>
            <a:off x="11297841" y="4006096"/>
            <a:ext cx="30480" cy="680442"/>
          </a:xfrm>
          <a:prstGeom prst="roundRect">
            <a:avLst>
              <a:gd fmla="val 312558" name="adj"/>
            </a:avLst>
          </a:prstGeom>
          <a:solidFill>
            <a:srgbClr val="B2D4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5"/>
          <p:cNvSpPr/>
          <p:nvPr/>
        </p:nvSpPr>
        <p:spPr>
          <a:xfrm>
            <a:off x="11057930" y="3750945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5"/>
          <p:cNvSpPr/>
          <p:nvPr/>
        </p:nvSpPr>
        <p:spPr>
          <a:xfrm>
            <a:off x="11134487" y="3782854"/>
            <a:ext cx="357188" cy="446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800"/>
              <a:buFont typeface="Petrona"/>
              <a:buNone/>
            </a:pPr>
            <a:r>
              <a:rPr b="1" i="0" lang="en-US" sz="28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4</a:t>
            </a:r>
            <a:endParaRPr b="0" i="0" sz="2800" u="none" cap="none" strike="noStrike"/>
          </a:p>
        </p:txBody>
      </p:sp>
      <p:sp>
        <p:nvSpPr>
          <p:cNvPr id="150" name="Google Shape;150;p15"/>
          <p:cNvSpPr/>
          <p:nvPr/>
        </p:nvSpPr>
        <p:spPr>
          <a:xfrm>
            <a:off x="9824561" y="4913352"/>
            <a:ext cx="2977039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Semanas 17-18</a:t>
            </a:r>
            <a:endParaRPr b="0" i="0" sz="2300" u="none" cap="none" strike="noStrike"/>
          </a:p>
        </p:txBody>
      </p:sp>
      <p:sp>
        <p:nvSpPr>
          <p:cNvPr id="151" name="Google Shape;151;p15"/>
          <p:cNvSpPr/>
          <p:nvPr/>
        </p:nvSpPr>
        <p:spPr>
          <a:xfrm>
            <a:off x="9016365" y="5421511"/>
            <a:ext cx="459343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Entrega final y exposición</a:t>
            </a:r>
            <a:endParaRPr b="0" i="0" sz="1750" u="none" cap="none" strike="noStrike"/>
          </a:p>
        </p:txBody>
      </p:sp>
      <p:sp>
        <p:nvSpPr>
          <p:cNvPr id="152" name="Google Shape;152;p15"/>
          <p:cNvSpPr/>
          <p:nvPr/>
        </p:nvSpPr>
        <p:spPr>
          <a:xfrm>
            <a:off x="793790" y="6487478"/>
            <a:ext cx="3017996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Priorización MoSCoW</a:t>
            </a:r>
            <a:endParaRPr b="0" i="0" sz="2300" u="none" cap="none" strike="noStrike"/>
          </a:p>
        </p:txBody>
      </p:sp>
      <p:sp>
        <p:nvSpPr>
          <p:cNvPr id="153" name="Google Shape;153;p15"/>
          <p:cNvSpPr/>
          <p:nvPr/>
        </p:nvSpPr>
        <p:spPr>
          <a:xfrm>
            <a:off x="793790" y="7199709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Must have, Should have, Could have, Won't have</a:t>
            </a:r>
            <a:endParaRPr b="0" i="0" sz="1750" u="none" cap="none" strike="noStrike"/>
          </a:p>
        </p:txBody>
      </p:sp>
      <p:pic>
        <p:nvPicPr>
          <p:cNvPr descr="preencoded.png" id="154" name="Google Shape;15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9803" y="1176823"/>
            <a:ext cx="2752775" cy="68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0" name="Google Shape;16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/>
          <p:nvPr/>
        </p:nvSpPr>
        <p:spPr>
          <a:xfrm>
            <a:off x="6064091" y="1126093"/>
            <a:ext cx="4333161" cy="541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Petrona"/>
              <a:buNone/>
            </a:pPr>
            <a:r>
              <a:rPr b="1" i="0" lang="en-US" sz="34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Descripción técnica</a:t>
            </a:r>
            <a:endParaRPr b="0" i="0" sz="3400" u="none" cap="none" strike="noStrike"/>
          </a:p>
        </p:txBody>
      </p:sp>
      <p:pic>
        <p:nvPicPr>
          <p:cNvPr descr="preencoded.png" id="162" name="Google Shape;16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64091" y="1847731"/>
            <a:ext cx="412671" cy="41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6"/>
          <p:cNvSpPr/>
          <p:nvPr/>
        </p:nvSpPr>
        <p:spPr>
          <a:xfrm>
            <a:off x="6064091" y="2410539"/>
            <a:ext cx="2166580" cy="2708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Petrona"/>
              <a:buNone/>
            </a:pPr>
            <a:r>
              <a:rPr b="1" i="0" lang="en-US" sz="17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PHP Backend</a:t>
            </a:r>
            <a:endParaRPr b="0" i="0" sz="1700" u="none" cap="none" strike="noStrike"/>
          </a:p>
        </p:txBody>
      </p:sp>
      <p:sp>
        <p:nvSpPr>
          <p:cNvPr id="164" name="Google Shape;164;p16"/>
          <p:cNvSpPr/>
          <p:nvPr/>
        </p:nvSpPr>
        <p:spPr>
          <a:xfrm>
            <a:off x="6064091" y="2753439"/>
            <a:ext cx="7988618" cy="228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Lenguaje principal sin frameworks, con JavaScript, HTML5 y CSS para interfaz.</a:t>
            </a:r>
            <a:endParaRPr b="0" i="0" sz="1250" u="none" cap="none" strike="noStrike"/>
          </a:p>
        </p:txBody>
      </p:sp>
      <p:pic>
        <p:nvPicPr>
          <p:cNvPr descr="preencoded.png" id="165" name="Google Shape;16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4091" y="3221712"/>
            <a:ext cx="412671" cy="41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6"/>
          <p:cNvSpPr/>
          <p:nvPr/>
        </p:nvSpPr>
        <p:spPr>
          <a:xfrm>
            <a:off x="6064091" y="3784521"/>
            <a:ext cx="2166580" cy="2708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Petrona"/>
              <a:buNone/>
            </a:pPr>
            <a:r>
              <a:rPr b="1" i="0" lang="en-US" sz="17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MariaDB</a:t>
            </a:r>
            <a:endParaRPr b="0" i="0" sz="1700" u="none" cap="none" strike="noStrike"/>
          </a:p>
        </p:txBody>
      </p:sp>
      <p:sp>
        <p:nvSpPr>
          <p:cNvPr id="167" name="Google Shape;167;p16"/>
          <p:cNvSpPr/>
          <p:nvPr/>
        </p:nvSpPr>
        <p:spPr>
          <a:xfrm>
            <a:off x="6064091" y="4127421"/>
            <a:ext cx="7988618" cy="228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Base de datos relacional para almacenamiento estructurado de información.</a:t>
            </a:r>
            <a:endParaRPr b="0" i="0" sz="1250" u="none" cap="none" strike="noStrike"/>
          </a:p>
        </p:txBody>
      </p:sp>
      <p:pic>
        <p:nvPicPr>
          <p:cNvPr descr="preencoded.png" id="168" name="Google Shape;16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64091" y="4595693"/>
            <a:ext cx="412671" cy="41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6"/>
          <p:cNvSpPr/>
          <p:nvPr/>
        </p:nvSpPr>
        <p:spPr>
          <a:xfrm>
            <a:off x="6064091" y="5158502"/>
            <a:ext cx="2166580" cy="2708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Petrona"/>
              <a:buNone/>
            </a:pPr>
            <a:r>
              <a:rPr b="1" i="0" lang="en-US" sz="17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Linux Debian 11</a:t>
            </a:r>
            <a:endParaRPr b="0" i="0" sz="1700" u="none" cap="none" strike="noStrike"/>
          </a:p>
        </p:txBody>
      </p:sp>
      <p:sp>
        <p:nvSpPr>
          <p:cNvPr id="170" name="Google Shape;170;p16"/>
          <p:cNvSpPr/>
          <p:nvPr/>
        </p:nvSpPr>
        <p:spPr>
          <a:xfrm>
            <a:off x="6064091" y="5501402"/>
            <a:ext cx="7988618" cy="228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Infraestructura de servidor estable y segura para despliegue.</a:t>
            </a:r>
            <a:endParaRPr b="0" i="0" sz="1250" u="none" cap="none" strike="noStrike"/>
          </a:p>
        </p:txBody>
      </p:sp>
      <p:pic>
        <p:nvPicPr>
          <p:cNvPr descr="preencoded.png" id="171" name="Google Shape;17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64091" y="5969675"/>
            <a:ext cx="412671" cy="41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6"/>
          <p:cNvSpPr/>
          <p:nvPr/>
        </p:nvSpPr>
        <p:spPr>
          <a:xfrm>
            <a:off x="6064091" y="6532483"/>
            <a:ext cx="2166580" cy="2708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Petrona"/>
              <a:buNone/>
            </a:pPr>
            <a:r>
              <a:rPr b="1" i="0" lang="en-US" sz="17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APIs Integradas</a:t>
            </a:r>
            <a:endParaRPr b="0" i="0" sz="1700" u="none" cap="none" strike="noStrike"/>
          </a:p>
        </p:txBody>
      </p:sp>
      <p:sp>
        <p:nvSpPr>
          <p:cNvPr id="173" name="Google Shape;173;p16"/>
          <p:cNvSpPr/>
          <p:nvPr/>
        </p:nvSpPr>
        <p:spPr>
          <a:xfrm>
            <a:off x="6064091" y="6875383"/>
            <a:ext cx="7988618" cy="228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FirmaGob para firma electrónica, generación de PDF y códigos QR.</a:t>
            </a:r>
            <a:endParaRPr b="0" i="0" sz="12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/>
          <p:nvPr/>
        </p:nvSpPr>
        <p:spPr>
          <a:xfrm>
            <a:off x="682228" y="536019"/>
            <a:ext cx="8791575" cy="639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Petrona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Esquema de Arquitectura del Sistema</a:t>
            </a:r>
            <a:endParaRPr b="0" i="0" sz="4000" u="none" cap="none" strike="noStrike"/>
          </a:p>
        </p:txBody>
      </p:sp>
      <p:pic>
        <p:nvPicPr>
          <p:cNvPr descr="preencoded.png" id="180" name="Google Shape;18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2228" y="1510665"/>
            <a:ext cx="13265944" cy="6344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6" name="Google Shape;18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/>
          <p:nvPr/>
        </p:nvSpPr>
        <p:spPr>
          <a:xfrm>
            <a:off x="6231255" y="843915"/>
            <a:ext cx="5586889" cy="698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Petrona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Resumen Ejecutivo</a:t>
            </a:r>
            <a:endParaRPr b="0" i="0" sz="4350" u="none" cap="none" strike="noStrike"/>
          </a:p>
        </p:txBody>
      </p:sp>
      <p:sp>
        <p:nvSpPr>
          <p:cNvPr id="188" name="Google Shape;188;p18"/>
          <p:cNvSpPr/>
          <p:nvPr/>
        </p:nvSpPr>
        <p:spPr>
          <a:xfrm>
            <a:off x="6231255" y="1841659"/>
            <a:ext cx="3727252" cy="2559844"/>
          </a:xfrm>
          <a:prstGeom prst="roundRect">
            <a:avLst>
              <a:gd fmla="val 3492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6451640" y="2062043"/>
            <a:ext cx="2793444" cy="349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50"/>
              <a:buFont typeface="Petrona"/>
              <a:buNone/>
            </a:pPr>
            <a:r>
              <a:rPr b="1" i="0" lang="en-US" sz="21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Optimización</a:t>
            </a:r>
            <a:endParaRPr b="0" i="0" sz="2150" u="none" cap="none" strike="noStrike"/>
          </a:p>
        </p:txBody>
      </p:sp>
      <p:sp>
        <p:nvSpPr>
          <p:cNvPr id="190" name="Google Shape;190;p18"/>
          <p:cNvSpPr/>
          <p:nvPr/>
        </p:nvSpPr>
        <p:spPr>
          <a:xfrm>
            <a:off x="6451640" y="2530912"/>
            <a:ext cx="3286482" cy="16502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El sistema debe permitir la </a:t>
            </a:r>
            <a:r>
              <a:rPr lang="en-US" sz="16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optimización 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del proceso de votación en comisiones y sesiones plenarias, con el fin de agilizar la toma de decisiones.</a:t>
            </a:r>
            <a:endParaRPr b="0" i="0" sz="1650" u="none" cap="none" strike="noStrike"/>
          </a:p>
        </p:txBody>
      </p:sp>
      <p:sp>
        <p:nvSpPr>
          <p:cNvPr id="191" name="Google Shape;191;p18"/>
          <p:cNvSpPr/>
          <p:nvPr/>
        </p:nvSpPr>
        <p:spPr>
          <a:xfrm>
            <a:off x="10158174" y="1841659"/>
            <a:ext cx="3727371" cy="2559844"/>
          </a:xfrm>
          <a:prstGeom prst="roundRect">
            <a:avLst>
              <a:gd fmla="val 3492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10378559" y="2062043"/>
            <a:ext cx="3030260" cy="349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50"/>
              <a:buFont typeface="Petrona"/>
              <a:buNone/>
            </a:pPr>
            <a:r>
              <a:rPr b="1" i="0" lang="en-US" sz="21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Generación Automática</a:t>
            </a:r>
            <a:endParaRPr b="0" i="0" sz="2150" u="none" cap="none" strike="noStrike"/>
          </a:p>
        </p:txBody>
      </p:sp>
      <p:sp>
        <p:nvSpPr>
          <p:cNvPr id="193" name="Google Shape;193;p18"/>
          <p:cNvSpPr/>
          <p:nvPr/>
        </p:nvSpPr>
        <p:spPr>
          <a:xfrm>
            <a:off x="10378559" y="2530912"/>
            <a:ext cx="3286601" cy="132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El sistema debe generar actas en formato PDF, incorporando asistencia, acuerdos y resultados de votación.</a:t>
            </a:r>
            <a:endParaRPr b="0" i="0" sz="1650" u="none" cap="none" strike="noStrike"/>
          </a:p>
        </p:txBody>
      </p:sp>
      <p:sp>
        <p:nvSpPr>
          <p:cNvPr id="194" name="Google Shape;194;p18"/>
          <p:cNvSpPr/>
          <p:nvPr/>
        </p:nvSpPr>
        <p:spPr>
          <a:xfrm>
            <a:off x="6231255" y="4601170"/>
            <a:ext cx="7654290" cy="1569720"/>
          </a:xfrm>
          <a:prstGeom prst="roundRect">
            <a:avLst>
              <a:gd fmla="val 5695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6451640" y="4821555"/>
            <a:ext cx="2793444" cy="349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50"/>
              <a:buFont typeface="Petrona"/>
              <a:buNone/>
            </a:pPr>
            <a:r>
              <a:rPr b="1" i="0" lang="en-US" sz="21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Validación Legal</a:t>
            </a:r>
            <a:endParaRPr b="0" i="0" sz="2150" u="none" cap="none" strike="noStrike"/>
          </a:p>
        </p:txBody>
      </p:sp>
      <p:sp>
        <p:nvSpPr>
          <p:cNvPr id="196" name="Google Shape;196;p18"/>
          <p:cNvSpPr/>
          <p:nvPr/>
        </p:nvSpPr>
        <p:spPr>
          <a:xfrm>
            <a:off x="6451640" y="5290423"/>
            <a:ext cx="7213521" cy="660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El sistema debe integrar firma electrónica del Estado (FirmaGob), asegurando la validez legal de los documentos.</a:t>
            </a:r>
            <a:endParaRPr b="0" i="0" sz="1650" u="none" cap="none" strike="noStrike"/>
          </a:p>
        </p:txBody>
      </p:sp>
      <p:sp>
        <p:nvSpPr>
          <p:cNvPr id="197" name="Google Shape;197;p18"/>
          <p:cNvSpPr/>
          <p:nvPr/>
        </p:nvSpPr>
        <p:spPr>
          <a:xfrm>
            <a:off x="6231255" y="6395442"/>
            <a:ext cx="7654290" cy="990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El proyecto se desarrolla bajo metodología ágil Scrum, con una duración estimada de 18 semanas, un equipo de tres integrantes y el uso de tecnologías como PHP, MariaDB y Linux.</a:t>
            </a:r>
            <a:endParaRPr b="0" i="0" sz="1650" u="none" cap="none" strike="noStrike"/>
          </a:p>
        </p:txBody>
      </p:sp>
      <p:pic>
        <p:nvPicPr>
          <p:cNvPr descr="preencoded.png" id="198" name="Google Shape;19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94725" y="431475"/>
            <a:ext cx="2640852" cy="66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